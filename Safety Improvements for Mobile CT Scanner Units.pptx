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1" r:id="rId2"/>
    <p:sldId id="2567" r:id="rId3"/>
    <p:sldId id="2568" r:id="rId4"/>
    <p:sldId id="2569" r:id="rId5"/>
    <p:sldId id="2570" r:id="rId6"/>
    <p:sldId id="2571" r:id="rId7"/>
    <p:sldId id="2572" r:id="rId8"/>
    <p:sldId id="2573" r:id="rId9"/>
    <p:sldId id="2574" r:id="rId10"/>
    <p:sldId id="2575" r:id="rId11"/>
    <p:sldId id="2576" r:id="rId12"/>
    <p:sldId id="2577" r:id="rId13"/>
    <p:sldId id="2578" r:id="rId14"/>
    <p:sldId id="2579" r:id="rId15"/>
    <p:sldId id="2580" r:id="rId16"/>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fety Improvements for Mobile CT Scanner Units: Protecting Patients and the Public" id="{1AA5A0C7-FAAD-4AD0-AA38-4230839E3377}">
          <p14:sldIdLst>
            <p14:sldId id="2561"/>
          </p14:sldIdLst>
        </p14:section>
        <p14:section name="Background of Mobile CT Scanner Services" id="{E07D7D53-D512-402F-9C00-64A24E27EABD}">
          <p14:sldIdLst/>
        </p14:section>
        <p14:section name="Analysis of Radiation Leakage Risks" id="{1FFD32FA-602A-425D-896E-A023CE7C50A6}">
          <p14:sldIdLst>
            <p14:sldId id="2567"/>
            <p14:sldId id="2568"/>
            <p14:sldId id="2569"/>
            <p14:sldId id="2570"/>
          </p14:sldIdLst>
        </p14:section>
        <p14:section name="Proposed Engineering Solutions for Enhanced Safety" id="{3D4FADEA-36B4-4DEF-9416-D2A96047492B}">
          <p14:sldIdLst>
            <p14:sldId id="2571"/>
            <p14:sldId id="2572"/>
            <p14:sldId id="2573"/>
            <p14:sldId id="2574"/>
          </p14:sldIdLst>
        </p14:section>
        <p14:section name="Operational Safety Protocols and Compliance" id="{A0AA1C8D-A436-48F1-9DC0-861BCE3F0FAB}">
          <p14:sldIdLst>
            <p14:sldId id="2575"/>
            <p14:sldId id="2576"/>
            <p14:sldId id="2577"/>
            <p14:sldId id="2578"/>
          </p14:sldIdLst>
        </p14:section>
        <p14:section name="Expected Outcomes and Building Public Trust" id="{EEDB5DF8-4A06-4DB8-A810-9F9AA3B4255C}">
          <p14:sldIdLst>
            <p14:sldId id="2579"/>
            <p14:sldId id="2580"/>
          </p14:sldIdLst>
        </p14:section>
        <p14:section name="Conclusion" id="{594FEBC2-FB8B-4CF7-A5D9-1550B631FAC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C63802-7312-44DB-A9EF-79E57EB1B5DE}" v="41" dt="2025-11-30T21:28:28.9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andra Giebień" userId="c5dd5123b3ed5494" providerId="LiveId" clId="{BD7726C1-84D8-4E14-9EAC-65ED136E6EC0}"/>
    <pc:docChg chg="delSld modSld modSection">
      <pc:chgData name="Aleksandra Giebień" userId="c5dd5123b3ed5494" providerId="LiveId" clId="{BD7726C1-84D8-4E14-9EAC-65ED136E6EC0}" dt="2025-11-30T21:28:59.786" v="48" actId="47"/>
      <pc:docMkLst>
        <pc:docMk/>
      </pc:docMkLst>
      <pc:sldChg chg="modSp del">
        <pc:chgData name="Aleksandra Giebień" userId="c5dd5123b3ed5494" providerId="LiveId" clId="{BD7726C1-84D8-4E14-9EAC-65ED136E6EC0}" dt="2025-11-30T21:28:39.442" v="46" actId="47"/>
        <pc:sldMkLst>
          <pc:docMk/>
          <pc:sldMk cId="4294177741" sldId="2562"/>
        </pc:sldMkLst>
        <pc:spChg chg="mod">
          <ac:chgData name="Aleksandra Giebień" userId="c5dd5123b3ed5494" providerId="LiveId" clId="{BD7726C1-84D8-4E14-9EAC-65ED136E6EC0}" dt="2025-11-30T21:28:28.923" v="44" actId="5793"/>
          <ac:spMkLst>
            <pc:docMk/>
            <pc:sldMk cId="4294177741" sldId="2562"/>
            <ac:spMk id="4" creationId="{8ECEC8F2-2D21-8A9D-5DA0-AD0224EAFA60}"/>
          </ac:spMkLst>
        </pc:spChg>
      </pc:sldChg>
      <pc:sldChg chg="del">
        <pc:chgData name="Aleksandra Giebień" userId="c5dd5123b3ed5494" providerId="LiveId" clId="{BD7726C1-84D8-4E14-9EAC-65ED136E6EC0}" dt="2025-11-30T21:28:32.550" v="45" actId="47"/>
        <pc:sldMkLst>
          <pc:docMk/>
          <pc:sldMk cId="3281723637" sldId="2563"/>
        </pc:sldMkLst>
      </pc:sldChg>
      <pc:sldChg chg="del">
        <pc:chgData name="Aleksandra Giebień" userId="c5dd5123b3ed5494" providerId="LiveId" clId="{BD7726C1-84D8-4E14-9EAC-65ED136E6EC0}" dt="2025-11-30T21:28:58.837" v="47" actId="47"/>
        <pc:sldMkLst>
          <pc:docMk/>
          <pc:sldMk cId="4281186693" sldId="2564"/>
        </pc:sldMkLst>
      </pc:sldChg>
      <pc:sldChg chg="del">
        <pc:chgData name="Aleksandra Giebień" userId="c5dd5123b3ed5494" providerId="LiveId" clId="{BD7726C1-84D8-4E14-9EAC-65ED136E6EC0}" dt="2025-11-30T21:25:04.402" v="0" actId="47"/>
        <pc:sldMkLst>
          <pc:docMk/>
          <pc:sldMk cId="306751069" sldId="2565"/>
        </pc:sldMkLst>
      </pc:sldChg>
      <pc:sldChg chg="del">
        <pc:chgData name="Aleksandra Giebień" userId="c5dd5123b3ed5494" providerId="LiveId" clId="{BD7726C1-84D8-4E14-9EAC-65ED136E6EC0}" dt="2025-11-30T21:28:59.786" v="48" actId="47"/>
        <pc:sldMkLst>
          <pc:docMk/>
          <pc:sldMk cId="1837150977" sldId="2566"/>
        </pc:sldMkLst>
      </pc:sldChg>
      <pc:sldChg chg="del">
        <pc:chgData name="Aleksandra Giebień" userId="c5dd5123b3ed5494" providerId="LiveId" clId="{BD7726C1-84D8-4E14-9EAC-65ED136E6EC0}" dt="2025-11-30T21:27:37.088" v="1" actId="47"/>
        <pc:sldMkLst>
          <pc:docMk/>
          <pc:sldMk cId="2343572208" sldId="2581"/>
        </pc:sldMkLst>
      </pc:sldChg>
      <pc:sldChg chg="del">
        <pc:chgData name="Aleksandra Giebień" userId="c5dd5123b3ed5494" providerId="LiveId" clId="{BD7726C1-84D8-4E14-9EAC-65ED136E6EC0}" dt="2025-11-30T21:28:01.440" v="2" actId="47"/>
        <pc:sldMkLst>
          <pc:docMk/>
          <pc:sldMk cId="849614873" sldId="2582"/>
        </pc:sldMkLst>
      </pc:sldChg>
      <pc:sldChg chg="del">
        <pc:chgData name="Aleksandra Giebień" userId="c5dd5123b3ed5494" providerId="LiveId" clId="{BD7726C1-84D8-4E14-9EAC-65ED136E6EC0}" dt="2025-11-30T21:28:03.852" v="3" actId="47"/>
        <pc:sldMkLst>
          <pc:docMk/>
          <pc:sldMk cId="3747224267" sldId="2583"/>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4D6023-91BC-42E0-A6A5-F19DC0891715}"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pl-PL"/>
        </a:p>
      </dgm:t>
    </dgm:pt>
    <dgm:pt modelId="{15160625-8407-43FC-9AF1-0EF8FDF056E9}">
      <dgm:prSet/>
      <dgm:spPr/>
      <dgm:t>
        <a:bodyPr/>
        <a:lstStyle/>
        <a:p>
          <a:pPr>
            <a:lnSpc>
              <a:spcPct val="100000"/>
            </a:lnSpc>
            <a:defRPr b="1"/>
          </a:pPr>
          <a:r>
            <a:rPr lang="pl-PL"/>
            <a:t>Enhanced Attenuation Materials</a:t>
          </a:r>
        </a:p>
      </dgm:t>
    </dgm:pt>
    <dgm:pt modelId="{13C67A60-C803-42FE-9006-69CAF3289F64}" type="parTrans" cxnId="{19F7F9C1-1998-40E1-82C7-D1F06ED4BF39}">
      <dgm:prSet/>
      <dgm:spPr/>
      <dgm:t>
        <a:bodyPr/>
        <a:lstStyle/>
        <a:p>
          <a:endParaRPr lang="pl-PL"/>
        </a:p>
      </dgm:t>
    </dgm:pt>
    <dgm:pt modelId="{262B6238-2A4E-46A5-ADC5-1B55DF3BE86F}" type="sibTrans" cxnId="{19F7F9C1-1998-40E1-82C7-D1F06ED4BF39}">
      <dgm:prSet/>
      <dgm:spPr/>
      <dgm:t>
        <a:bodyPr/>
        <a:lstStyle/>
        <a:p>
          <a:pPr>
            <a:lnSpc>
              <a:spcPct val="100000"/>
            </a:lnSpc>
            <a:defRPr b="1"/>
          </a:pPr>
          <a:endParaRPr lang="pl-PL"/>
        </a:p>
      </dgm:t>
    </dgm:pt>
    <dgm:pt modelId="{1239DDB3-A38D-42B4-8378-75116CA83947}">
      <dgm:prSet/>
      <dgm:spPr/>
      <dgm:t>
        <a:bodyPr/>
        <a:lstStyle/>
        <a:p>
          <a:pPr>
            <a:lnSpc>
              <a:spcPct val="100000"/>
            </a:lnSpc>
          </a:pPr>
          <a:r>
            <a:rPr lang="pl-PL"/>
            <a:t>New shielding materials offer improved attenuation properties to effectively reduce leakage.</a:t>
          </a:r>
        </a:p>
      </dgm:t>
    </dgm:pt>
    <dgm:pt modelId="{5DF4C7B1-2793-48B1-B89B-B21829021C07}" type="parTrans" cxnId="{BBF2DEBE-03A2-4BBC-829D-1E21F7A2C486}">
      <dgm:prSet/>
      <dgm:spPr/>
      <dgm:t>
        <a:bodyPr/>
        <a:lstStyle/>
        <a:p>
          <a:endParaRPr lang="pl-PL"/>
        </a:p>
      </dgm:t>
    </dgm:pt>
    <dgm:pt modelId="{C1A0E6BD-7071-4B80-A136-81C24C9F9D27}" type="sibTrans" cxnId="{BBF2DEBE-03A2-4BBC-829D-1E21F7A2C486}">
      <dgm:prSet/>
      <dgm:spPr/>
      <dgm:t>
        <a:bodyPr/>
        <a:lstStyle/>
        <a:p>
          <a:endParaRPr lang="pl-PL"/>
        </a:p>
      </dgm:t>
    </dgm:pt>
    <dgm:pt modelId="{7CD88589-B830-4411-B485-D2163565A857}">
      <dgm:prSet/>
      <dgm:spPr/>
      <dgm:t>
        <a:bodyPr/>
        <a:lstStyle/>
        <a:p>
          <a:pPr>
            <a:lnSpc>
              <a:spcPct val="100000"/>
            </a:lnSpc>
            <a:defRPr b="1"/>
          </a:pPr>
          <a:r>
            <a:rPr lang="pl-PL"/>
            <a:t>Maintaining Mobility</a:t>
          </a:r>
        </a:p>
      </dgm:t>
    </dgm:pt>
    <dgm:pt modelId="{5C1CA0A6-BFC2-4624-96D0-5157BB89E1AF}" type="parTrans" cxnId="{B237463B-6E85-49D3-B00F-ED98A5C82F50}">
      <dgm:prSet/>
      <dgm:spPr/>
      <dgm:t>
        <a:bodyPr/>
        <a:lstStyle/>
        <a:p>
          <a:endParaRPr lang="pl-PL"/>
        </a:p>
      </dgm:t>
    </dgm:pt>
    <dgm:pt modelId="{36742169-4719-42C5-AC82-D66533653515}" type="sibTrans" cxnId="{B237463B-6E85-49D3-B00F-ED98A5C82F50}">
      <dgm:prSet/>
      <dgm:spPr/>
      <dgm:t>
        <a:bodyPr/>
        <a:lstStyle/>
        <a:p>
          <a:pPr>
            <a:lnSpc>
              <a:spcPct val="100000"/>
            </a:lnSpc>
            <a:defRPr b="1"/>
          </a:pPr>
          <a:endParaRPr lang="pl-PL"/>
        </a:p>
      </dgm:t>
    </dgm:pt>
    <dgm:pt modelId="{C4085957-A5FD-4F75-91C8-9ACC15B00B09}">
      <dgm:prSet/>
      <dgm:spPr/>
      <dgm:t>
        <a:bodyPr/>
        <a:lstStyle/>
        <a:p>
          <a:pPr>
            <a:lnSpc>
              <a:spcPct val="100000"/>
            </a:lnSpc>
          </a:pPr>
          <a:r>
            <a:rPr lang="pl-PL"/>
            <a:t>The redesigned shielding ensures units remain mobile without compromising protection.</a:t>
          </a:r>
        </a:p>
      </dgm:t>
    </dgm:pt>
    <dgm:pt modelId="{BB25B331-EDC6-4CED-8CD4-9B61BA2E4016}" type="parTrans" cxnId="{8ACC6AF8-194D-458A-AD42-234F5C8B7987}">
      <dgm:prSet/>
      <dgm:spPr/>
      <dgm:t>
        <a:bodyPr/>
        <a:lstStyle/>
        <a:p>
          <a:endParaRPr lang="pl-PL"/>
        </a:p>
      </dgm:t>
    </dgm:pt>
    <dgm:pt modelId="{77A3C47C-1747-4CBA-9D0C-835BA097F2CF}" type="sibTrans" cxnId="{8ACC6AF8-194D-458A-AD42-234F5C8B7987}">
      <dgm:prSet/>
      <dgm:spPr/>
      <dgm:t>
        <a:bodyPr/>
        <a:lstStyle/>
        <a:p>
          <a:endParaRPr lang="pl-PL"/>
        </a:p>
      </dgm:t>
    </dgm:pt>
    <dgm:pt modelId="{15C44194-0DEB-4996-AC72-547C42E96E8C}">
      <dgm:prSet/>
      <dgm:spPr/>
      <dgm:t>
        <a:bodyPr/>
        <a:lstStyle/>
        <a:p>
          <a:pPr>
            <a:lnSpc>
              <a:spcPct val="100000"/>
            </a:lnSpc>
            <a:defRPr b="1"/>
          </a:pPr>
          <a:r>
            <a:rPr lang="pl-PL"/>
            <a:t>Operational Efficiency</a:t>
          </a:r>
        </a:p>
      </dgm:t>
    </dgm:pt>
    <dgm:pt modelId="{05C1B4F4-2049-48DF-8EF9-86BDA59D2D90}" type="parTrans" cxnId="{7FC72984-3791-4DC1-A128-8DB7B7162CD8}">
      <dgm:prSet/>
      <dgm:spPr/>
      <dgm:t>
        <a:bodyPr/>
        <a:lstStyle/>
        <a:p>
          <a:endParaRPr lang="pl-PL"/>
        </a:p>
      </dgm:t>
    </dgm:pt>
    <dgm:pt modelId="{930A11D5-5001-467E-A391-8B7B25148BDD}" type="sibTrans" cxnId="{7FC72984-3791-4DC1-A128-8DB7B7162CD8}">
      <dgm:prSet/>
      <dgm:spPr/>
      <dgm:t>
        <a:bodyPr/>
        <a:lstStyle/>
        <a:p>
          <a:endParaRPr lang="pl-PL"/>
        </a:p>
      </dgm:t>
    </dgm:pt>
    <dgm:pt modelId="{6FA6F40B-F0BC-4003-83CD-3A7F41E47820}">
      <dgm:prSet/>
      <dgm:spPr/>
      <dgm:t>
        <a:bodyPr/>
        <a:lstStyle/>
        <a:p>
          <a:pPr>
            <a:lnSpc>
              <a:spcPct val="100000"/>
            </a:lnSpc>
          </a:pPr>
          <a:r>
            <a:rPr lang="pl-PL"/>
            <a:t>Improved shielding materials contribute to maintaining operational efficiency of units in the field.</a:t>
          </a:r>
        </a:p>
      </dgm:t>
    </dgm:pt>
    <dgm:pt modelId="{2806E088-C503-4AB0-89B8-0683AFFCB860}" type="parTrans" cxnId="{1081823A-D429-4DF9-BAB7-F890EBA046A1}">
      <dgm:prSet/>
      <dgm:spPr/>
      <dgm:t>
        <a:bodyPr/>
        <a:lstStyle/>
        <a:p>
          <a:endParaRPr lang="pl-PL"/>
        </a:p>
      </dgm:t>
    </dgm:pt>
    <dgm:pt modelId="{11B42F91-4173-4A72-8D6A-F3F8FDD09AB1}" type="sibTrans" cxnId="{1081823A-D429-4DF9-BAB7-F890EBA046A1}">
      <dgm:prSet/>
      <dgm:spPr/>
      <dgm:t>
        <a:bodyPr/>
        <a:lstStyle/>
        <a:p>
          <a:endParaRPr lang="pl-PL"/>
        </a:p>
      </dgm:t>
    </dgm:pt>
    <dgm:pt modelId="{79F7B9A2-A855-4D6E-B030-57F0A3C9635B}" type="pres">
      <dgm:prSet presAssocID="{044D6023-91BC-42E0-A6A5-F19DC0891715}" presName="Root" presStyleCnt="0">
        <dgm:presLayoutVars>
          <dgm:dir/>
          <dgm:resizeHandles val="exact"/>
        </dgm:presLayoutVars>
      </dgm:prSet>
      <dgm:spPr/>
    </dgm:pt>
    <dgm:pt modelId="{9F8707BD-D2DD-4309-A3A9-7D18CF42C108}" type="pres">
      <dgm:prSet presAssocID="{15160625-8407-43FC-9AF1-0EF8FDF056E9}" presName="Composite" presStyleCnt="0"/>
      <dgm:spPr/>
    </dgm:pt>
    <dgm:pt modelId="{C1F063EE-0DC7-4FFF-A38C-DFE89B03D838}" type="pres">
      <dgm:prSet presAssocID="{15160625-8407-43FC-9AF1-0EF8FDF056E9}"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r="33254" b="6"/>
          <a:stretch/>
        </a:blipFill>
      </dgm:spPr>
      <dgm:extLst>
        <a:ext uri="{E40237B7-FDA0-4F09-8148-C483321AD2D9}">
          <dgm14:cNvPr xmlns:dgm14="http://schemas.microsoft.com/office/drawing/2010/diagram" id="0" name="" descr="records are great for a million reasons and i just can't seem to stop taking photos of them.."/>
        </a:ext>
      </dgm:extLst>
    </dgm:pt>
    <dgm:pt modelId="{61932F2C-5D6A-444E-9B3F-8F6A90771F93}" type="pres">
      <dgm:prSet presAssocID="{15160625-8407-43FC-9AF1-0EF8FDF056E9}" presName="Subtitle" presStyleLbl="revTx" presStyleIdx="0" presStyleCnt="6">
        <dgm:presLayoutVars>
          <dgm:chMax val="0"/>
          <dgm:bulletEnabled/>
        </dgm:presLayoutVars>
      </dgm:prSet>
      <dgm:spPr/>
    </dgm:pt>
    <dgm:pt modelId="{82A571F9-DCA0-4FF1-86F7-B5852E6C571A}" type="pres">
      <dgm:prSet presAssocID="{15160625-8407-43FC-9AF1-0EF8FDF056E9}" presName="Description" presStyleLbl="revTx" presStyleIdx="1" presStyleCnt="6">
        <dgm:presLayoutVars>
          <dgm:bulletEnabled/>
        </dgm:presLayoutVars>
      </dgm:prSet>
      <dgm:spPr/>
    </dgm:pt>
    <dgm:pt modelId="{EFE2568B-9F2E-496C-90EE-99EF9A7177FC}" type="pres">
      <dgm:prSet presAssocID="{262B6238-2A4E-46A5-ADC5-1B55DF3BE86F}" presName="sibTrans" presStyleLbl="sibTrans2D1" presStyleIdx="0" presStyleCnt="0"/>
      <dgm:spPr/>
    </dgm:pt>
    <dgm:pt modelId="{E9DF6F7D-D958-4BC7-B8BE-ECBA5BCCEFD6}" type="pres">
      <dgm:prSet presAssocID="{7CD88589-B830-4411-B485-D2163565A857}" presName="Composite" presStyleCnt="0"/>
      <dgm:spPr/>
    </dgm:pt>
    <dgm:pt modelId="{A69E9A02-3946-4444-AC47-6F5970898904}" type="pres">
      <dgm:prSet presAssocID="{7CD88589-B830-4411-B485-D2163565A857}"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5245" r="8009" b="6"/>
          <a:stretch/>
        </a:blipFill>
      </dgm:spPr>
      <dgm:extLst>
        <a:ext uri="{E40237B7-FDA0-4F09-8148-C483321AD2D9}">
          <dgm14:cNvPr xmlns:dgm14="http://schemas.microsoft.com/office/drawing/2010/diagram" id="0" name="" descr="&quot;Brightly colored industrial warehouse exterior walls as background, texture or backdrops. Or see my&quot;"/>
        </a:ext>
      </dgm:extLst>
    </dgm:pt>
    <dgm:pt modelId="{CC249D94-605B-42A1-BFDF-9AE1A2284633}" type="pres">
      <dgm:prSet presAssocID="{7CD88589-B830-4411-B485-D2163565A857}" presName="Subtitle" presStyleLbl="revTx" presStyleIdx="2" presStyleCnt="6">
        <dgm:presLayoutVars>
          <dgm:chMax val="0"/>
          <dgm:bulletEnabled/>
        </dgm:presLayoutVars>
      </dgm:prSet>
      <dgm:spPr/>
    </dgm:pt>
    <dgm:pt modelId="{F9FE0CBB-7FD7-4BA3-A924-73E9704A3C4A}" type="pres">
      <dgm:prSet presAssocID="{7CD88589-B830-4411-B485-D2163565A857}" presName="Description" presStyleLbl="revTx" presStyleIdx="3" presStyleCnt="6">
        <dgm:presLayoutVars>
          <dgm:bulletEnabled/>
        </dgm:presLayoutVars>
      </dgm:prSet>
      <dgm:spPr/>
    </dgm:pt>
    <dgm:pt modelId="{E58EE07A-7FF7-4D59-8AFB-2335CB440F22}" type="pres">
      <dgm:prSet presAssocID="{36742169-4719-42C5-AC82-D66533653515}" presName="sibTrans" presStyleLbl="sibTrans2D1" presStyleIdx="0" presStyleCnt="0"/>
      <dgm:spPr/>
    </dgm:pt>
    <dgm:pt modelId="{B471D344-50BE-45E3-B705-17976628F872}" type="pres">
      <dgm:prSet presAssocID="{15C44194-0DEB-4996-AC72-547C42E96E8C}" presName="Composite" presStyleCnt="0"/>
      <dgm:spPr/>
    </dgm:pt>
    <dgm:pt modelId="{A2C1ACB1-4A84-4A05-9BF8-EA7182A09A71}" type="pres">
      <dgm:prSet presAssocID="{15C44194-0DEB-4996-AC72-547C42E96E8C}"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8535" r="15216" b="1"/>
          <a:stretch/>
        </a:blipFill>
      </dgm:spPr>
      <dgm:extLst>
        <a:ext uri="{E40237B7-FDA0-4F09-8148-C483321AD2D9}">
          <dgm14:cNvPr xmlns:dgm14="http://schemas.microsoft.com/office/drawing/2010/diagram" id="0" name="" descr="Electrical control pipe system in factory"/>
        </a:ext>
      </dgm:extLst>
    </dgm:pt>
    <dgm:pt modelId="{EF8F4F06-55B1-4678-9514-34938FE5CB2C}" type="pres">
      <dgm:prSet presAssocID="{15C44194-0DEB-4996-AC72-547C42E96E8C}" presName="Subtitle" presStyleLbl="revTx" presStyleIdx="4" presStyleCnt="6">
        <dgm:presLayoutVars>
          <dgm:chMax val="0"/>
          <dgm:bulletEnabled/>
        </dgm:presLayoutVars>
      </dgm:prSet>
      <dgm:spPr/>
    </dgm:pt>
    <dgm:pt modelId="{D3C28831-BAEA-4545-BA4A-2D43A00F6106}" type="pres">
      <dgm:prSet presAssocID="{15C44194-0DEB-4996-AC72-547C42E96E8C}" presName="Description" presStyleLbl="revTx" presStyleIdx="5" presStyleCnt="6">
        <dgm:presLayoutVars>
          <dgm:bulletEnabled/>
        </dgm:presLayoutVars>
      </dgm:prSet>
      <dgm:spPr/>
    </dgm:pt>
  </dgm:ptLst>
  <dgm:cxnLst>
    <dgm:cxn modelId="{5B2B502B-FFB5-44DB-92DA-9A3DEE3720D3}" type="presOf" srcId="{1239DDB3-A38D-42B4-8378-75116CA83947}" destId="{82A571F9-DCA0-4FF1-86F7-B5852E6C571A}" srcOrd="0" destOrd="0" presId="urn:microsoft.com/office/officeart/2024/3/layout/verticalVisualTextBlock1"/>
    <dgm:cxn modelId="{8C7C7130-2934-4479-B77A-03998049C9CA}" type="presOf" srcId="{15160625-8407-43FC-9AF1-0EF8FDF056E9}" destId="{61932F2C-5D6A-444E-9B3F-8F6A90771F93}" srcOrd="0" destOrd="0" presId="urn:microsoft.com/office/officeart/2024/3/layout/verticalVisualTextBlock1"/>
    <dgm:cxn modelId="{7ACB5B36-26A5-441B-8F23-A9947C03CC97}" type="presOf" srcId="{7CD88589-B830-4411-B485-D2163565A857}" destId="{CC249D94-605B-42A1-BFDF-9AE1A2284633}" srcOrd="0" destOrd="0" presId="urn:microsoft.com/office/officeart/2024/3/layout/verticalVisualTextBlock1"/>
    <dgm:cxn modelId="{1081823A-D429-4DF9-BAB7-F890EBA046A1}" srcId="{15C44194-0DEB-4996-AC72-547C42E96E8C}" destId="{6FA6F40B-F0BC-4003-83CD-3A7F41E47820}" srcOrd="0" destOrd="0" parTransId="{2806E088-C503-4AB0-89B8-0683AFFCB860}" sibTransId="{11B42F91-4173-4A72-8D6A-F3F8FDD09AB1}"/>
    <dgm:cxn modelId="{B237463B-6E85-49D3-B00F-ED98A5C82F50}" srcId="{044D6023-91BC-42E0-A6A5-F19DC0891715}" destId="{7CD88589-B830-4411-B485-D2163565A857}" srcOrd="1" destOrd="0" parTransId="{5C1CA0A6-BFC2-4624-96D0-5157BB89E1AF}" sibTransId="{36742169-4719-42C5-AC82-D66533653515}"/>
    <dgm:cxn modelId="{93AD564F-4545-42E9-896E-10A416990097}" type="presOf" srcId="{6FA6F40B-F0BC-4003-83CD-3A7F41E47820}" destId="{D3C28831-BAEA-4545-BA4A-2D43A00F6106}" srcOrd="0" destOrd="0" presId="urn:microsoft.com/office/officeart/2024/3/layout/verticalVisualTextBlock1"/>
    <dgm:cxn modelId="{7FC72984-3791-4DC1-A128-8DB7B7162CD8}" srcId="{044D6023-91BC-42E0-A6A5-F19DC0891715}" destId="{15C44194-0DEB-4996-AC72-547C42E96E8C}" srcOrd="2" destOrd="0" parTransId="{05C1B4F4-2049-48DF-8EF9-86BDA59D2D90}" sibTransId="{930A11D5-5001-467E-A391-8B7B25148BDD}"/>
    <dgm:cxn modelId="{B8CAB687-FAE5-4FB0-8552-430C69B2DB6F}" type="presOf" srcId="{C4085957-A5FD-4F75-91C8-9ACC15B00B09}" destId="{F9FE0CBB-7FD7-4BA3-A924-73E9704A3C4A}" srcOrd="0" destOrd="0" presId="urn:microsoft.com/office/officeart/2024/3/layout/verticalVisualTextBlock1"/>
    <dgm:cxn modelId="{A87EF487-CDDA-4797-AB5F-B849A3E252C6}" type="presOf" srcId="{044D6023-91BC-42E0-A6A5-F19DC0891715}" destId="{79F7B9A2-A855-4D6E-B030-57F0A3C9635B}" srcOrd="0" destOrd="0" presId="urn:microsoft.com/office/officeart/2024/3/layout/verticalVisualTextBlock1"/>
    <dgm:cxn modelId="{C2C78F9C-A7A5-4D2A-A567-F2319F029E3E}" type="presOf" srcId="{15C44194-0DEB-4996-AC72-547C42E96E8C}" destId="{EF8F4F06-55B1-4678-9514-34938FE5CB2C}" srcOrd="0" destOrd="0" presId="urn:microsoft.com/office/officeart/2024/3/layout/verticalVisualTextBlock1"/>
    <dgm:cxn modelId="{528847AF-A1C4-4351-9715-AA0B5A8486CA}" type="presOf" srcId="{36742169-4719-42C5-AC82-D66533653515}" destId="{E58EE07A-7FF7-4D59-8AFB-2335CB440F22}" srcOrd="0" destOrd="0" presId="urn:microsoft.com/office/officeart/2024/3/layout/verticalVisualTextBlock1"/>
    <dgm:cxn modelId="{45A88DB8-DC62-4A6B-8073-535B941D0EAD}" type="presOf" srcId="{262B6238-2A4E-46A5-ADC5-1B55DF3BE86F}" destId="{EFE2568B-9F2E-496C-90EE-99EF9A7177FC}" srcOrd="0" destOrd="0" presId="urn:microsoft.com/office/officeart/2024/3/layout/verticalVisualTextBlock1"/>
    <dgm:cxn modelId="{BBF2DEBE-03A2-4BBC-829D-1E21F7A2C486}" srcId="{15160625-8407-43FC-9AF1-0EF8FDF056E9}" destId="{1239DDB3-A38D-42B4-8378-75116CA83947}" srcOrd="0" destOrd="0" parTransId="{5DF4C7B1-2793-48B1-B89B-B21829021C07}" sibTransId="{C1A0E6BD-7071-4B80-A136-81C24C9F9D27}"/>
    <dgm:cxn modelId="{19F7F9C1-1998-40E1-82C7-D1F06ED4BF39}" srcId="{044D6023-91BC-42E0-A6A5-F19DC0891715}" destId="{15160625-8407-43FC-9AF1-0EF8FDF056E9}" srcOrd="0" destOrd="0" parTransId="{13C67A60-C803-42FE-9006-69CAF3289F64}" sibTransId="{262B6238-2A4E-46A5-ADC5-1B55DF3BE86F}"/>
    <dgm:cxn modelId="{8ACC6AF8-194D-458A-AD42-234F5C8B7987}" srcId="{7CD88589-B830-4411-B485-D2163565A857}" destId="{C4085957-A5FD-4F75-91C8-9ACC15B00B09}" srcOrd="0" destOrd="0" parTransId="{BB25B331-EDC6-4CED-8CD4-9B61BA2E4016}" sibTransId="{77A3C47C-1747-4CBA-9D0C-835BA097F2CF}"/>
    <dgm:cxn modelId="{687E7210-3CD9-43CC-9086-8BAF9E3398BD}" type="presParOf" srcId="{79F7B9A2-A855-4D6E-B030-57F0A3C9635B}" destId="{9F8707BD-D2DD-4309-A3A9-7D18CF42C108}" srcOrd="0" destOrd="0" presId="urn:microsoft.com/office/officeart/2024/3/layout/verticalVisualTextBlock1"/>
    <dgm:cxn modelId="{C069A45B-40D9-4DF6-817A-EA28290CC5E8}" type="presParOf" srcId="{9F8707BD-D2DD-4309-A3A9-7D18CF42C108}" destId="{C1F063EE-0DC7-4FFF-A38C-DFE89B03D838}" srcOrd="0" destOrd="0" presId="urn:microsoft.com/office/officeart/2024/3/layout/verticalVisualTextBlock1"/>
    <dgm:cxn modelId="{24EF370C-D968-4B16-83B5-242516FDB0F1}" type="presParOf" srcId="{9F8707BD-D2DD-4309-A3A9-7D18CF42C108}" destId="{61932F2C-5D6A-444E-9B3F-8F6A90771F93}" srcOrd="1" destOrd="0" presId="urn:microsoft.com/office/officeart/2024/3/layout/verticalVisualTextBlock1"/>
    <dgm:cxn modelId="{AD0A81C0-190F-4891-92D9-83F5CDDE5DBA}" type="presParOf" srcId="{9F8707BD-D2DD-4309-A3A9-7D18CF42C108}" destId="{82A571F9-DCA0-4FF1-86F7-B5852E6C571A}" srcOrd="2" destOrd="0" presId="urn:microsoft.com/office/officeart/2024/3/layout/verticalVisualTextBlock1"/>
    <dgm:cxn modelId="{2D517B05-75D5-444C-9E28-47ECC91D70DC}" type="presParOf" srcId="{79F7B9A2-A855-4D6E-B030-57F0A3C9635B}" destId="{EFE2568B-9F2E-496C-90EE-99EF9A7177FC}" srcOrd="1" destOrd="0" presId="urn:microsoft.com/office/officeart/2024/3/layout/verticalVisualTextBlock1"/>
    <dgm:cxn modelId="{1EC92F17-8D7F-46E8-B4DF-EA282FFC6AB5}" type="presParOf" srcId="{79F7B9A2-A855-4D6E-B030-57F0A3C9635B}" destId="{E9DF6F7D-D958-4BC7-B8BE-ECBA5BCCEFD6}" srcOrd="2" destOrd="0" presId="urn:microsoft.com/office/officeart/2024/3/layout/verticalVisualTextBlock1"/>
    <dgm:cxn modelId="{28CC03F9-7409-436C-ABD6-7D0E86672452}" type="presParOf" srcId="{E9DF6F7D-D958-4BC7-B8BE-ECBA5BCCEFD6}" destId="{A69E9A02-3946-4444-AC47-6F5970898904}" srcOrd="0" destOrd="0" presId="urn:microsoft.com/office/officeart/2024/3/layout/verticalVisualTextBlock1"/>
    <dgm:cxn modelId="{E30DCABF-C958-4BDF-86B9-6781B96D307C}" type="presParOf" srcId="{E9DF6F7D-D958-4BC7-B8BE-ECBA5BCCEFD6}" destId="{CC249D94-605B-42A1-BFDF-9AE1A2284633}" srcOrd="1" destOrd="0" presId="urn:microsoft.com/office/officeart/2024/3/layout/verticalVisualTextBlock1"/>
    <dgm:cxn modelId="{16649339-EBE6-42EB-951D-30A7AE4DEACF}" type="presParOf" srcId="{E9DF6F7D-D958-4BC7-B8BE-ECBA5BCCEFD6}" destId="{F9FE0CBB-7FD7-4BA3-A924-73E9704A3C4A}" srcOrd="2" destOrd="0" presId="urn:microsoft.com/office/officeart/2024/3/layout/verticalVisualTextBlock1"/>
    <dgm:cxn modelId="{592FAD8D-1853-42B2-BC9C-F6495D6B7A84}" type="presParOf" srcId="{79F7B9A2-A855-4D6E-B030-57F0A3C9635B}" destId="{E58EE07A-7FF7-4D59-8AFB-2335CB440F22}" srcOrd="3" destOrd="0" presId="urn:microsoft.com/office/officeart/2024/3/layout/verticalVisualTextBlock1"/>
    <dgm:cxn modelId="{C27F8288-8F9C-4D7F-8FCF-82E502A2F3AB}" type="presParOf" srcId="{79F7B9A2-A855-4D6E-B030-57F0A3C9635B}" destId="{B471D344-50BE-45E3-B705-17976628F872}" srcOrd="4" destOrd="0" presId="urn:microsoft.com/office/officeart/2024/3/layout/verticalVisualTextBlock1"/>
    <dgm:cxn modelId="{4D965288-FA3C-47E5-A6AC-AFDEF9C15E08}" type="presParOf" srcId="{B471D344-50BE-45E3-B705-17976628F872}" destId="{A2C1ACB1-4A84-4A05-9BF8-EA7182A09A71}" srcOrd="0" destOrd="0" presId="urn:microsoft.com/office/officeart/2024/3/layout/verticalVisualTextBlock1"/>
    <dgm:cxn modelId="{0909C9C7-0456-425B-8AF0-D95EB8FE6FC6}" type="presParOf" srcId="{B471D344-50BE-45E3-B705-17976628F872}" destId="{EF8F4F06-55B1-4678-9514-34938FE5CB2C}" srcOrd="1" destOrd="0" presId="urn:microsoft.com/office/officeart/2024/3/layout/verticalVisualTextBlock1"/>
    <dgm:cxn modelId="{493CA209-87DA-4460-86AE-72A2BB55A6A7}" type="presParOf" srcId="{B471D344-50BE-45E3-B705-17976628F872}" destId="{D3C28831-BAEA-4545-BA4A-2D43A00F6106}"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063EE-0DC7-4FFF-A38C-DFE89B03D838}">
      <dsp:nvSpPr>
        <dsp:cNvPr id="0" name=""/>
        <dsp:cNvSpPr/>
      </dsp:nvSpPr>
      <dsp:spPr>
        <a:xfrm>
          <a:off x="0" y="0"/>
          <a:ext cx="1610980" cy="161098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r="33254" b="6"/>
          <a:stretch/>
        </a:blipFill>
        <a:ln>
          <a:noFill/>
        </a:ln>
        <a:effectLst/>
      </dsp:spPr>
      <dsp:style>
        <a:lnRef idx="0">
          <a:scrgbClr r="0" g="0" b="0"/>
        </a:lnRef>
        <a:fillRef idx="3">
          <a:scrgbClr r="0" g="0" b="0"/>
        </a:fillRef>
        <a:effectRef idx="2">
          <a:scrgbClr r="0" g="0" b="0"/>
        </a:effectRef>
        <a:fontRef idx="minor">
          <a:schemeClr val="lt1"/>
        </a:fontRef>
      </dsp:style>
    </dsp:sp>
    <dsp:sp modelId="{61932F2C-5D6A-444E-9B3F-8F6A90771F93}">
      <dsp:nvSpPr>
        <dsp:cNvPr id="0" name=""/>
        <dsp:cNvSpPr/>
      </dsp:nvSpPr>
      <dsp:spPr>
        <a:xfrm>
          <a:off x="1790980" y="0"/>
          <a:ext cx="5800878" cy="363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pl-PL" sz="1800" kern="1200"/>
            <a:t>Enhanced Attenuation Materials</a:t>
          </a:r>
        </a:p>
      </dsp:txBody>
      <dsp:txXfrm>
        <a:off x="1790980" y="0"/>
        <a:ext cx="5800878" cy="363528"/>
      </dsp:txXfrm>
    </dsp:sp>
    <dsp:sp modelId="{82A571F9-DCA0-4FF1-86F7-B5852E6C571A}">
      <dsp:nvSpPr>
        <dsp:cNvPr id="0" name=""/>
        <dsp:cNvSpPr/>
      </dsp:nvSpPr>
      <dsp:spPr>
        <a:xfrm>
          <a:off x="1790980" y="363528"/>
          <a:ext cx="5800878" cy="124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pl-PL" sz="1400" kern="1200"/>
            <a:t>New shielding materials offer improved attenuation properties to effectively reduce leakage.</a:t>
          </a:r>
        </a:p>
      </dsp:txBody>
      <dsp:txXfrm>
        <a:off x="1790980" y="363528"/>
        <a:ext cx="5800878" cy="1247452"/>
      </dsp:txXfrm>
    </dsp:sp>
    <dsp:sp modelId="{A69E9A02-3946-4444-AC47-6F5970898904}">
      <dsp:nvSpPr>
        <dsp:cNvPr id="0" name=""/>
        <dsp:cNvSpPr/>
      </dsp:nvSpPr>
      <dsp:spPr>
        <a:xfrm>
          <a:off x="0" y="1739859"/>
          <a:ext cx="1610980" cy="161098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5245" r="8009" b="6"/>
          <a:stretch/>
        </a:blipFill>
        <a:ln>
          <a:noFill/>
        </a:ln>
        <a:effectLst/>
      </dsp:spPr>
      <dsp:style>
        <a:lnRef idx="0">
          <a:scrgbClr r="0" g="0" b="0"/>
        </a:lnRef>
        <a:fillRef idx="3">
          <a:scrgbClr r="0" g="0" b="0"/>
        </a:fillRef>
        <a:effectRef idx="2">
          <a:scrgbClr r="0" g="0" b="0"/>
        </a:effectRef>
        <a:fontRef idx="minor">
          <a:schemeClr val="lt1"/>
        </a:fontRef>
      </dsp:style>
    </dsp:sp>
    <dsp:sp modelId="{CC249D94-605B-42A1-BFDF-9AE1A2284633}">
      <dsp:nvSpPr>
        <dsp:cNvPr id="0" name=""/>
        <dsp:cNvSpPr/>
      </dsp:nvSpPr>
      <dsp:spPr>
        <a:xfrm>
          <a:off x="1790980" y="1739859"/>
          <a:ext cx="5800878" cy="363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pl-PL" sz="1800" kern="1200"/>
            <a:t>Maintaining Mobility</a:t>
          </a:r>
        </a:p>
      </dsp:txBody>
      <dsp:txXfrm>
        <a:off x="1790980" y="1739859"/>
        <a:ext cx="5800878" cy="363528"/>
      </dsp:txXfrm>
    </dsp:sp>
    <dsp:sp modelId="{F9FE0CBB-7FD7-4BA3-A924-73E9704A3C4A}">
      <dsp:nvSpPr>
        <dsp:cNvPr id="0" name=""/>
        <dsp:cNvSpPr/>
      </dsp:nvSpPr>
      <dsp:spPr>
        <a:xfrm>
          <a:off x="1790980" y="2103387"/>
          <a:ext cx="5800878" cy="124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pl-PL" sz="1400" kern="1200"/>
            <a:t>The redesigned shielding ensures units remain mobile without compromising protection.</a:t>
          </a:r>
        </a:p>
      </dsp:txBody>
      <dsp:txXfrm>
        <a:off x="1790980" y="2103387"/>
        <a:ext cx="5800878" cy="1247452"/>
      </dsp:txXfrm>
    </dsp:sp>
    <dsp:sp modelId="{A2C1ACB1-4A84-4A05-9BF8-EA7182A09A71}">
      <dsp:nvSpPr>
        <dsp:cNvPr id="0" name=""/>
        <dsp:cNvSpPr/>
      </dsp:nvSpPr>
      <dsp:spPr>
        <a:xfrm>
          <a:off x="0" y="3479718"/>
          <a:ext cx="1610980" cy="161098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8535" r="15216" b="1"/>
          <a:stretch/>
        </a:blipFill>
        <a:ln>
          <a:noFill/>
        </a:ln>
        <a:effectLst/>
      </dsp:spPr>
      <dsp:style>
        <a:lnRef idx="0">
          <a:scrgbClr r="0" g="0" b="0"/>
        </a:lnRef>
        <a:fillRef idx="3">
          <a:scrgbClr r="0" g="0" b="0"/>
        </a:fillRef>
        <a:effectRef idx="2">
          <a:scrgbClr r="0" g="0" b="0"/>
        </a:effectRef>
        <a:fontRef idx="minor">
          <a:schemeClr val="lt1"/>
        </a:fontRef>
      </dsp:style>
    </dsp:sp>
    <dsp:sp modelId="{EF8F4F06-55B1-4678-9514-34938FE5CB2C}">
      <dsp:nvSpPr>
        <dsp:cNvPr id="0" name=""/>
        <dsp:cNvSpPr/>
      </dsp:nvSpPr>
      <dsp:spPr>
        <a:xfrm>
          <a:off x="1790980" y="3479718"/>
          <a:ext cx="5800878" cy="363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pl-PL" sz="1800" kern="1200"/>
            <a:t>Operational Efficiency</a:t>
          </a:r>
        </a:p>
      </dsp:txBody>
      <dsp:txXfrm>
        <a:off x="1790980" y="3479718"/>
        <a:ext cx="5800878" cy="363528"/>
      </dsp:txXfrm>
    </dsp:sp>
    <dsp:sp modelId="{D3C28831-BAEA-4545-BA4A-2D43A00F6106}">
      <dsp:nvSpPr>
        <dsp:cNvPr id="0" name=""/>
        <dsp:cNvSpPr/>
      </dsp:nvSpPr>
      <dsp:spPr>
        <a:xfrm>
          <a:off x="1790980" y="3843246"/>
          <a:ext cx="5800878" cy="1247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pl-PL" sz="1400" kern="1200"/>
            <a:t>Improved shielding materials contribute to maintaining operational efficiency of units in the field.</a:t>
          </a:r>
        </a:p>
      </dsp:txBody>
      <dsp:txXfrm>
        <a:off x="1790980" y="3843246"/>
        <a:ext cx="5800878" cy="1247452"/>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33BEE-4080-44BB-80C9-FB9F6EE05BB4}" type="datetimeFigureOut">
              <a:rPr lang="pl-PL" smtClean="0"/>
              <a:t>30.11.2025</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C545A-4513-4500-855C-CDB29D68C9A7}" type="slidenum">
              <a:rPr lang="pl-PL" smtClean="0"/>
              <a:t>‹#›</a:t>
            </a:fld>
            <a:endParaRPr lang="pl-PL"/>
          </a:p>
        </p:txBody>
      </p:sp>
    </p:spTree>
    <p:extLst>
      <p:ext uri="{BB962C8B-B14F-4D97-AF65-F5344CB8AC3E}">
        <p14:creationId xmlns:p14="http://schemas.microsoft.com/office/powerpoint/2010/main" val="314575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AI-generated content may be incorrect.
---
This presentation explores the safety enhancements for mobile CT scanner units, focusing on protecting both patients and the public from potential radiation risks. We will cover the background of mobile CT services, analyze radiation leakage concerns, propose engineering solutions, discuss safety protocols, and highlight expected outcomes.
Image source: Microsoft 365 content library
</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1</a:t>
            </a:fld>
            <a:endParaRPr lang="pl-PL"/>
          </a:p>
        </p:txBody>
      </p:sp>
    </p:spTree>
    <p:extLst>
      <p:ext uri="{BB962C8B-B14F-4D97-AF65-F5344CB8AC3E}">
        <p14:creationId xmlns:p14="http://schemas.microsoft.com/office/powerpoint/2010/main" val="4053153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Evaluating radiation emission mechanisms and structural vulnerabilities is essential to minimizing exposure risks to patients, staff, and the public around mobile CT units.</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2</a:t>
            </a:fld>
            <a:endParaRPr lang="pl-PL"/>
          </a:p>
        </p:txBody>
      </p:sp>
    </p:spTree>
    <p:extLst>
      <p:ext uri="{BB962C8B-B14F-4D97-AF65-F5344CB8AC3E}">
        <p14:creationId xmlns:p14="http://schemas.microsoft.com/office/powerpoint/2010/main" val="3446265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
---
CT scanners emit ionizing radiation primarily during imaging cycles. Understanding how this radiation propagates helps identify potential leakage points and exposure scenarios.
Image source: Microsoft 365 content library
</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3</a:t>
            </a:fld>
            <a:endParaRPr lang="pl-PL"/>
          </a:p>
        </p:txBody>
      </p:sp>
    </p:spTree>
    <p:extLst>
      <p:ext uri="{BB962C8B-B14F-4D97-AF65-F5344CB8AC3E}">
        <p14:creationId xmlns:p14="http://schemas.microsoft.com/office/powerpoint/2010/main" val="2031769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
---
Mobile units use shielding cages that may have design limitations, such as gaps or insufficient material thickness, which can allow radiation leakage and increase risk.
Image source: Microsoft 365 content library
</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4</a:t>
            </a:fld>
            <a:endParaRPr lang="pl-PL"/>
          </a:p>
        </p:txBody>
      </p:sp>
    </p:spTree>
    <p:extLst>
      <p:ext uri="{BB962C8B-B14F-4D97-AF65-F5344CB8AC3E}">
        <p14:creationId xmlns:p14="http://schemas.microsoft.com/office/powerpoint/2010/main" val="3746357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
---
Radiation leakage poses particular risks to bystanders and patients with sensitive implanted devices, necessitating stringent safety measures and exposure limits.
Image source: Microsoft 365 content library
</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5</a:t>
            </a:fld>
            <a:endParaRPr lang="pl-PL"/>
          </a:p>
        </p:txBody>
      </p:sp>
    </p:spTree>
    <p:extLst>
      <p:ext uri="{BB962C8B-B14F-4D97-AF65-F5344CB8AC3E}">
        <p14:creationId xmlns:p14="http://schemas.microsoft.com/office/powerpoint/2010/main" val="2974187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Innovative engineering approaches can significantly improve shielding effectiveness and radiation monitoring, thereby enhancing safety for all stakeholders.</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6</a:t>
            </a:fld>
            <a:endParaRPr lang="pl-PL"/>
          </a:p>
        </p:txBody>
      </p:sp>
    </p:spTree>
    <p:extLst>
      <p:ext uri="{BB962C8B-B14F-4D97-AF65-F5344CB8AC3E}">
        <p14:creationId xmlns:p14="http://schemas.microsoft.com/office/powerpoint/2010/main" val="1297416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
---
Utilizing new shielding materials with greater attenuation properties can reduce leakage while maintaining mobility and operational efficiency of the units.
Image source: Microsoft 365 content library
</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7</a:t>
            </a:fld>
            <a:endParaRPr lang="pl-PL"/>
          </a:p>
        </p:txBody>
      </p:sp>
    </p:spTree>
    <p:extLst>
      <p:ext uri="{BB962C8B-B14F-4D97-AF65-F5344CB8AC3E}">
        <p14:creationId xmlns:p14="http://schemas.microsoft.com/office/powerpoint/2010/main" val="2104982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
---
Integrating sensors that provide continuous radiation level feedback allows immediate detection of unsafe exposures and enhances operational safety control.
Image source: Microsoft 365 content library
</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8</a:t>
            </a:fld>
            <a:endParaRPr lang="pl-PL"/>
          </a:p>
        </p:txBody>
      </p:sp>
    </p:spTree>
    <p:extLst>
      <p:ext uri="{BB962C8B-B14F-4D97-AF65-F5344CB8AC3E}">
        <p14:creationId xmlns:p14="http://schemas.microsoft.com/office/powerpoint/2010/main" val="1214328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
---
Introducing supplementary protective barriers and safety protocols ensures that both patients and medical staff minimize their radiation exposure during imaging procedures.
Image source: Microsoft 365 content library
</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9</a:t>
            </a:fld>
            <a:endParaRPr lang="pl-PL"/>
          </a:p>
        </p:txBody>
      </p:sp>
    </p:spTree>
    <p:extLst>
      <p:ext uri="{BB962C8B-B14F-4D97-AF65-F5344CB8AC3E}">
        <p14:creationId xmlns:p14="http://schemas.microsoft.com/office/powerpoint/2010/main" val="200466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Clear operational guidelines and adherence to established standards are critical to maintaining safety and regulatory compliance in mobile CT imaging.</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10</a:t>
            </a:fld>
            <a:endParaRPr lang="pl-PL"/>
          </a:p>
        </p:txBody>
      </p:sp>
    </p:spTree>
    <p:extLst>
      <p:ext uri="{BB962C8B-B14F-4D97-AF65-F5344CB8AC3E}">
        <p14:creationId xmlns:p14="http://schemas.microsoft.com/office/powerpoint/2010/main" val="871968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
---
Defining safety perimeter zones with visible signage helps prevent unauthorized or accidental exposure to radiation during scanner operation.
Image source: Microsoft 365 content library
</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11</a:t>
            </a:fld>
            <a:endParaRPr lang="pl-PL"/>
          </a:p>
        </p:txBody>
      </p:sp>
    </p:spTree>
    <p:extLst>
      <p:ext uri="{BB962C8B-B14F-4D97-AF65-F5344CB8AC3E}">
        <p14:creationId xmlns:p14="http://schemas.microsoft.com/office/powerpoint/2010/main" val="4051046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
---
Comprehensive training ensures staff understand safety protocols, while clear patient guidance minimizes exposure risks and enhances overall safety culture.
Image source: Microsoft 365 content library
</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12</a:t>
            </a:fld>
            <a:endParaRPr lang="pl-PL"/>
          </a:p>
        </p:txBody>
      </p:sp>
    </p:spTree>
    <p:extLst>
      <p:ext uri="{BB962C8B-B14F-4D97-AF65-F5344CB8AC3E}">
        <p14:creationId xmlns:p14="http://schemas.microsoft.com/office/powerpoint/2010/main" val="3870791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
---
Mobile CT units must comply with international safety standards and undergo rigorous testing to validate shielding effectiveness and operational safety.
Image source: Microsoft 365 content library
</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13</a:t>
            </a:fld>
            <a:endParaRPr lang="pl-PL"/>
          </a:p>
        </p:txBody>
      </p:sp>
    </p:spTree>
    <p:extLst>
      <p:ext uri="{BB962C8B-B14F-4D97-AF65-F5344CB8AC3E}">
        <p14:creationId xmlns:p14="http://schemas.microsoft.com/office/powerpoint/2010/main" val="3267024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Implementing these improvements will boost patient and community safety, increase confidence in mobile diagnostic technologies, and support broader healthcare accessibility.</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14</a:t>
            </a:fld>
            <a:endParaRPr lang="pl-PL"/>
          </a:p>
        </p:txBody>
      </p:sp>
    </p:spTree>
    <p:extLst>
      <p:ext uri="{BB962C8B-B14F-4D97-AF65-F5344CB8AC3E}">
        <p14:creationId xmlns:p14="http://schemas.microsoft.com/office/powerpoint/2010/main" val="1587781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
---
Enhanced shielding and protocols significantly reduce radiation exposure risks, protecting patients, staff, and the public during mobile CT scanning.
Image source: Microsoft 365 content library
</a:t>
            </a:r>
          </a:p>
        </p:txBody>
      </p:sp>
      <p:sp>
        <p:nvSpPr>
          <p:cNvPr id="4" name="Symbol zastępczy numeru slajdu 3"/>
          <p:cNvSpPr>
            <a:spLocks noGrp="1"/>
          </p:cNvSpPr>
          <p:nvPr>
            <p:ph type="sldNum" sz="quarter" idx="5"/>
          </p:nvPr>
        </p:nvSpPr>
        <p:spPr/>
        <p:txBody>
          <a:bodyPr/>
          <a:lstStyle/>
          <a:p>
            <a:fld id="{5F50BC2B-D808-487A-AB79-509BA6EBC6E1}" type="slidenum">
              <a:rPr lang="pl-PL" smtClean="0"/>
              <a:t>15</a:t>
            </a:fld>
            <a:endParaRPr lang="pl-PL"/>
          </a:p>
        </p:txBody>
      </p:sp>
    </p:spTree>
    <p:extLst>
      <p:ext uri="{BB962C8B-B14F-4D97-AF65-F5344CB8AC3E}">
        <p14:creationId xmlns:p14="http://schemas.microsoft.com/office/powerpoint/2010/main" val="3370225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11/30/2025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92282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11/30/2025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7550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11/30/2025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53631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11/30/2025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55683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11/30/2025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998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11/30/2025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07113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11/30/2025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31939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11/30/2025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36288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11/30/2025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6023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11/30/2025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3699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11/30/2025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3111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11/30/2025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68650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3ECF2AD-97B3-AC4B-AA78-D2032388C48F}"/>
              </a:ext>
            </a:extLst>
          </p:cNvPr>
          <p:cNvSpPr>
            <a:spLocks noGrp="1"/>
          </p:cNvSpPr>
          <p:nvPr>
            <p:ph type="ctrTitle"/>
          </p:nvPr>
        </p:nvSpPr>
        <p:spPr>
          <a:xfrm>
            <a:off x="703400" y="899025"/>
            <a:ext cx="4917754" cy="3792926"/>
          </a:xfrm>
        </p:spPr>
        <p:txBody>
          <a:bodyPr>
            <a:normAutofit/>
          </a:bodyPr>
          <a:lstStyle/>
          <a:p>
            <a:pPr>
              <a:lnSpc>
                <a:spcPct val="90000"/>
              </a:lnSpc>
            </a:pPr>
            <a:r>
              <a:rPr lang="pl-PL" sz="4100"/>
              <a:t>Safety Improvements for Mobile CT Scanner Units: Protecting Patients and the Public</a:t>
            </a:r>
          </a:p>
        </p:txBody>
      </p:sp>
      <p:sp>
        <p:nvSpPr>
          <p:cNvPr id="3" name="Podtytuł 2">
            <a:extLst>
              <a:ext uri="{FF2B5EF4-FFF2-40B4-BE49-F238E27FC236}">
                <a16:creationId xmlns:a16="http://schemas.microsoft.com/office/drawing/2014/main" id="{435D65EC-E17B-6286-5B2C-DA2CBDAF007B}"/>
              </a:ext>
            </a:extLst>
          </p:cNvPr>
          <p:cNvSpPr>
            <a:spLocks noGrp="1"/>
          </p:cNvSpPr>
          <p:nvPr>
            <p:ph type="subTitle" idx="1"/>
          </p:nvPr>
        </p:nvSpPr>
        <p:spPr>
          <a:xfrm>
            <a:off x="721688" y="4778479"/>
            <a:ext cx="4435882" cy="1101160"/>
          </a:xfrm>
        </p:spPr>
        <p:txBody>
          <a:bodyPr>
            <a:normAutofit/>
          </a:bodyPr>
          <a:lstStyle/>
          <a:p>
            <a:r>
              <a:rPr lang="pl-PL"/>
              <a:t>Enhancing protection against radiation exposure risks</a:t>
            </a:r>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76813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BF2B36B-4D1C-9E0A-B17B-23D805AECA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76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Obraz 3" descr="3D illustration of X-ray System">
            <a:extLst>
              <a:ext uri="{FF2B5EF4-FFF2-40B4-BE49-F238E27FC236}">
                <a16:creationId xmlns:a16="http://schemas.microsoft.com/office/drawing/2014/main" id="{F1582E56-CEFC-4B90-A81D-EA638C017608}"/>
              </a:ext>
            </a:extLst>
          </p:cNvPr>
          <p:cNvPicPr>
            <a:picLocks noChangeAspect="1"/>
          </p:cNvPicPr>
          <p:nvPr/>
        </p:nvPicPr>
        <p:blipFill>
          <a:blip r:embed="rId3"/>
          <a:srcRect l="16513" r="18782"/>
          <a:stretch>
            <a:fillRect/>
          </a:stretch>
        </p:blipFill>
        <p:spPr>
          <a:xfrm>
            <a:off x="6217920" y="723901"/>
            <a:ext cx="5244454" cy="5410200"/>
          </a:xfrm>
          <a:prstGeom prst="rect">
            <a:avLst/>
          </a:prstGeom>
        </p:spPr>
      </p:pic>
    </p:spTree>
    <p:extLst>
      <p:ext uri="{BB962C8B-B14F-4D97-AF65-F5344CB8AC3E}">
        <p14:creationId xmlns:p14="http://schemas.microsoft.com/office/powerpoint/2010/main" val="119728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ytuł 1">
            <a:extLst>
              <a:ext uri="{FF2B5EF4-FFF2-40B4-BE49-F238E27FC236}">
                <a16:creationId xmlns:a16="http://schemas.microsoft.com/office/drawing/2014/main" id="{33F2BF61-6DE4-0D53-4D02-0161EBBC6441}"/>
              </a:ext>
            </a:extLst>
          </p:cNvPr>
          <p:cNvSpPr>
            <a:spLocks noGrp="1"/>
          </p:cNvSpPr>
          <p:nvPr>
            <p:ph type="ctrTitle"/>
          </p:nvPr>
        </p:nvSpPr>
        <p:spPr>
          <a:xfrm>
            <a:off x="695324" y="1145308"/>
            <a:ext cx="7600263" cy="4860947"/>
          </a:xfrm>
        </p:spPr>
        <p:txBody>
          <a:bodyPr anchor="b">
            <a:normAutofit/>
          </a:bodyPr>
          <a:lstStyle/>
          <a:p>
            <a:r>
              <a:rPr lang="pl-PL" sz="7600"/>
              <a:t>Analysis of Radiation Leakage Risks</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5948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B0729037-4D38-37FC-339F-0A747D516EFB}"/>
              </a:ext>
            </a:extLst>
          </p:cNvPr>
          <p:cNvSpPr>
            <a:spLocks noGrp="1"/>
          </p:cNvSpPr>
          <p:nvPr>
            <p:ph type="title"/>
          </p:nvPr>
        </p:nvSpPr>
        <p:spPr>
          <a:xfrm>
            <a:off x="704088" y="914401"/>
            <a:ext cx="6766560" cy="1307592"/>
          </a:xfrm>
        </p:spPr>
        <p:txBody>
          <a:bodyPr vert="horz" lIns="91440" tIns="45720" rIns="91440" bIns="45720" rtlCol="0" anchor="t">
            <a:normAutofit/>
          </a:bodyPr>
          <a:lstStyle/>
          <a:p>
            <a:r>
              <a:rPr lang="en-US" sz="3700"/>
              <a:t>Mechanisms of Radiation Emission From CT Scanners</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ymbol zastępczy zawartości 3">
            <a:extLst>
              <a:ext uri="{FF2B5EF4-FFF2-40B4-BE49-F238E27FC236}">
                <a16:creationId xmlns:a16="http://schemas.microsoft.com/office/drawing/2014/main" id="{64F687F2-6653-8574-853E-C48B9BA87D6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8" y="2221994"/>
            <a:ext cx="6766560" cy="3739896"/>
          </a:xfrm>
        </p:spPr>
        <p:txBody>
          <a:bodyPr>
            <a:normAutofit/>
          </a:bodyPr>
          <a:lstStyle/>
          <a:p>
            <a:pPr marL="0" indent="0">
              <a:spcBef>
                <a:spcPts val="2500"/>
              </a:spcBef>
              <a:buFont typeface="Arial" panose="020B0604020202020204" pitchFamily="34" charset="0"/>
              <a:buNone/>
            </a:pPr>
            <a:r>
              <a:rPr lang="pl-PL" sz="1400" b="1"/>
              <a:t>Radiation Emission Timing</a:t>
            </a:r>
          </a:p>
          <a:p>
            <a:pPr marL="0" lvl="1" indent="0">
              <a:buFont typeface="Arial" panose="020B0604020202020204" pitchFamily="34" charset="0"/>
              <a:buNone/>
            </a:pPr>
            <a:r>
              <a:rPr lang="pl-PL" sz="1400"/>
              <a:t>Radiation is emitted mainly during active imaging cycles in CT scanners, crucial for capturing internal images.</a:t>
            </a:r>
          </a:p>
          <a:p>
            <a:pPr marL="0" indent="0">
              <a:spcBef>
                <a:spcPts val="2500"/>
              </a:spcBef>
              <a:buFont typeface="Arial" panose="020B0604020202020204" pitchFamily="34" charset="0"/>
              <a:buNone/>
            </a:pPr>
            <a:r>
              <a:rPr lang="pl-PL" sz="1400" b="1"/>
              <a:t>Radiation Propagation</a:t>
            </a:r>
          </a:p>
          <a:p>
            <a:pPr marL="0" lvl="1" indent="0">
              <a:buFont typeface="Arial" panose="020B0604020202020204" pitchFamily="34" charset="0"/>
              <a:buNone/>
            </a:pPr>
            <a:r>
              <a:rPr lang="pl-PL" sz="1400"/>
              <a:t>The ionizing radiation propagates through specific paths, important for identifying potential leakage and exposure.</a:t>
            </a:r>
          </a:p>
          <a:p>
            <a:pPr marL="0" indent="0">
              <a:spcBef>
                <a:spcPts val="2500"/>
              </a:spcBef>
              <a:buFont typeface="Arial" panose="020B0604020202020204" pitchFamily="34" charset="0"/>
              <a:buNone/>
            </a:pPr>
            <a:r>
              <a:rPr lang="pl-PL" sz="1400" b="1"/>
              <a:t>Exposure Risk Identification</a:t>
            </a:r>
          </a:p>
          <a:p>
            <a:pPr marL="0" lvl="1" indent="0">
              <a:buFont typeface="Arial" panose="020B0604020202020204" pitchFamily="34" charset="0"/>
              <a:buNone/>
            </a:pPr>
            <a:r>
              <a:rPr lang="pl-PL" sz="1400"/>
              <a:t>Understanding radiation mechanisms aids in pinpointing exposure risks and enhancing safety measures.</a:t>
            </a:r>
          </a:p>
        </p:txBody>
      </p: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Symbol zastępczy zawartości 4" descr="Health series:Tomography Tunnel-PET/CT, ">
            <a:extLst>
              <a:ext uri="{FF2B5EF4-FFF2-40B4-BE49-F238E27FC236}">
                <a16:creationId xmlns:a16="http://schemas.microsoft.com/office/drawing/2014/main" id="{EABC8025-97C0-49B3-8709-89E19E1AD1AE}"/>
              </a:ext>
            </a:extLst>
          </p:cNvPr>
          <p:cNvPicPr>
            <a:picLocks noGrp="1" noChangeAspect="1"/>
          </p:cNvPicPr>
          <p:nvPr>
            <p:ph sz="half" idx="1"/>
          </p:nvPr>
        </p:nvPicPr>
        <p:blipFill>
          <a:blip r:embed="rId3"/>
          <a:srcRect l="26778" r="33691"/>
          <a:stretch>
            <a:fillRect/>
          </a:stretch>
        </p:blipFill>
        <p:spPr>
          <a:xfrm>
            <a:off x="8115300" y="10"/>
            <a:ext cx="4076700" cy="6857990"/>
          </a:xfrm>
          <a:prstGeom prst="rect">
            <a:avLst/>
          </a:prstGeom>
        </p:spPr>
      </p:pic>
    </p:spTree>
    <p:extLst>
      <p:ext uri="{BB962C8B-B14F-4D97-AF65-F5344CB8AC3E}">
        <p14:creationId xmlns:p14="http://schemas.microsoft.com/office/powerpoint/2010/main" val="10404570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B7BF1ED-9BD2-1317-C5D0-05CE01DE89E9}"/>
              </a:ext>
            </a:extLst>
          </p:cNvPr>
          <p:cNvSpPr>
            <a:spLocks noGrp="1"/>
          </p:cNvSpPr>
          <p:nvPr>
            <p:ph type="title"/>
          </p:nvPr>
        </p:nvSpPr>
        <p:spPr>
          <a:xfrm>
            <a:off x="6696186" y="909637"/>
            <a:ext cx="4800600" cy="1307592"/>
          </a:xfrm>
        </p:spPr>
        <p:txBody>
          <a:bodyPr vert="horz" lIns="91440" tIns="45720" rIns="91440" bIns="45720" rtlCol="0" anchor="t">
            <a:normAutofit/>
          </a:bodyPr>
          <a:lstStyle/>
          <a:p>
            <a:pPr>
              <a:lnSpc>
                <a:spcPct val="90000"/>
              </a:lnSpc>
            </a:pPr>
            <a:r>
              <a:rPr lang="en-US" sz="2800"/>
              <a:t>Structural Weaknesses in Shielding Cages</a:t>
            </a:r>
          </a:p>
        </p:txBody>
      </p:sp>
      <p:pic>
        <p:nvPicPr>
          <p:cNvPr id="5" name="Symbol zastępczy zawartości 4" descr="Open metal door, that gives access to a residential structure.">
            <a:extLst>
              <a:ext uri="{FF2B5EF4-FFF2-40B4-BE49-F238E27FC236}">
                <a16:creationId xmlns:a16="http://schemas.microsoft.com/office/drawing/2014/main" id="{AFEB2B99-5D2F-4420-A69E-B1BB4135D72F}"/>
              </a:ext>
            </a:extLst>
          </p:cNvPr>
          <p:cNvPicPr>
            <a:picLocks noGrp="1" noChangeAspect="1"/>
          </p:cNvPicPr>
          <p:nvPr>
            <p:ph sz="half" idx="1"/>
          </p:nvPr>
        </p:nvPicPr>
        <p:blipFill>
          <a:blip r:embed="rId3"/>
          <a:srcRect r="41611" b="-1"/>
          <a:stretch>
            <a:fillRect/>
          </a:stretch>
        </p:blipFill>
        <p:spPr>
          <a:xfrm>
            <a:off x="20" y="10"/>
            <a:ext cx="6044164" cy="6857990"/>
          </a:xfrm>
          <a:prstGeom prst="rect">
            <a:avLst/>
          </a:prstGeom>
        </p:spPr>
      </p:pic>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ymbol zastępczy zawartości 3">
            <a:extLst>
              <a:ext uri="{FF2B5EF4-FFF2-40B4-BE49-F238E27FC236}">
                <a16:creationId xmlns:a16="http://schemas.microsoft.com/office/drawing/2014/main" id="{C59A27A4-D6FD-914C-5A7A-3A67EABD035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96186" y="2221992"/>
            <a:ext cx="4800600" cy="3739896"/>
          </a:xfrm>
        </p:spPr>
        <p:txBody>
          <a:bodyPr>
            <a:normAutofit/>
          </a:bodyPr>
          <a:lstStyle/>
          <a:p>
            <a:pPr marL="0" indent="0">
              <a:spcBef>
                <a:spcPts val="2500"/>
              </a:spcBef>
              <a:buFont typeface="Arial" panose="020B0604020202020204" pitchFamily="34" charset="0"/>
              <a:buNone/>
            </a:pPr>
            <a:r>
              <a:rPr lang="en-US" sz="1400" b="1"/>
              <a:t>Design Limitations</a:t>
            </a:r>
          </a:p>
          <a:p>
            <a:pPr marL="0" lvl="1" indent="0">
              <a:buFont typeface="Arial" panose="020B0604020202020204" pitchFamily="34" charset="0"/>
              <a:buNone/>
            </a:pPr>
            <a:r>
              <a:rPr lang="en-US" sz="1400"/>
              <a:t>Shielding cages in mobile units sometimes have structural gaps that compromise radiation protection.</a:t>
            </a:r>
          </a:p>
          <a:p>
            <a:pPr marL="0" indent="0">
              <a:spcBef>
                <a:spcPts val="2500"/>
              </a:spcBef>
              <a:buFont typeface="Arial" panose="020B0604020202020204" pitchFamily="34" charset="0"/>
              <a:buNone/>
            </a:pPr>
            <a:r>
              <a:rPr lang="en-US" sz="1400" b="1"/>
              <a:t>Material Insufficiency</a:t>
            </a:r>
          </a:p>
          <a:p>
            <a:pPr marL="0" lvl="1" indent="0">
              <a:buFont typeface="Arial" panose="020B0604020202020204" pitchFamily="34" charset="0"/>
              <a:buNone/>
            </a:pPr>
            <a:r>
              <a:rPr lang="en-US" sz="1400"/>
              <a:t>Insufficient thickness of shielding material increases radiation leakage risk in mobile units.</a:t>
            </a:r>
          </a:p>
        </p:txBody>
      </p: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38931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2BCC4E0-24A2-5BA1-F45F-8A8BFF27637C}"/>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sz="2800"/>
              <a:t>Health Risks for Bystanders and Individuals with Implanted Devices</a:t>
            </a:r>
          </a:p>
        </p:txBody>
      </p:sp>
      <p:pic>
        <p:nvPicPr>
          <p:cNvPr id="5" name="Symbol zastępczy zawartości 4" descr="Factory worker wearing gas mask and radioactive protection suit">
            <a:extLst>
              <a:ext uri="{FF2B5EF4-FFF2-40B4-BE49-F238E27FC236}">
                <a16:creationId xmlns:a16="http://schemas.microsoft.com/office/drawing/2014/main" id="{DD8B7198-8FB5-4B8C-B890-8888F2213207}"/>
              </a:ext>
            </a:extLst>
          </p:cNvPr>
          <p:cNvPicPr>
            <a:picLocks noGrp="1" noChangeAspect="1"/>
          </p:cNvPicPr>
          <p:nvPr>
            <p:ph sz="half" idx="1"/>
          </p:nvPr>
        </p:nvPicPr>
        <p:blipFill>
          <a:blip r:embed="rId3"/>
          <a:srcRect l="13999" r="45168" b="2"/>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ymbol zastępczy zawartości 3">
            <a:extLst>
              <a:ext uri="{FF2B5EF4-FFF2-40B4-BE49-F238E27FC236}">
                <a16:creationId xmlns:a16="http://schemas.microsoft.com/office/drawing/2014/main" id="{7FEF9A3A-06A2-6648-4C2E-F16EB1E55D3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68" y="2221992"/>
            <a:ext cx="6627924" cy="3739896"/>
          </a:xfrm>
        </p:spPr>
        <p:txBody>
          <a:bodyPr>
            <a:normAutofit/>
          </a:bodyPr>
          <a:lstStyle/>
          <a:p>
            <a:pPr marL="0" indent="0">
              <a:spcBef>
                <a:spcPts val="2500"/>
              </a:spcBef>
              <a:buFont typeface="Arial" panose="020B0604020202020204" pitchFamily="34" charset="0"/>
              <a:buNone/>
            </a:pPr>
            <a:r>
              <a:rPr lang="en-US" sz="1400" b="1"/>
              <a:t>Radiation Leakage Risks</a:t>
            </a:r>
          </a:p>
          <a:p>
            <a:pPr marL="0" lvl="1" indent="0">
              <a:buFont typeface="Arial" panose="020B0604020202020204" pitchFamily="34" charset="0"/>
              <a:buNone/>
            </a:pPr>
            <a:r>
              <a:rPr lang="en-US" sz="1400"/>
              <a:t>Radiation leakage can harm bystanders and individuals with implanted medical devices, requiring careful monitoring.</a:t>
            </a:r>
          </a:p>
          <a:p>
            <a:pPr marL="0" indent="0">
              <a:spcBef>
                <a:spcPts val="2500"/>
              </a:spcBef>
              <a:buFont typeface="Arial" panose="020B0604020202020204" pitchFamily="34" charset="0"/>
              <a:buNone/>
            </a:pPr>
            <a:r>
              <a:rPr lang="en-US" sz="1400" b="1"/>
              <a:t>Safety Measures Importance</a:t>
            </a:r>
          </a:p>
          <a:p>
            <a:pPr marL="0" lvl="1" indent="0">
              <a:buFont typeface="Arial" panose="020B0604020202020204" pitchFamily="34" charset="0"/>
              <a:buNone/>
            </a:pPr>
            <a:r>
              <a:rPr lang="en-US" sz="1400"/>
              <a:t>Strict safety protocols and exposure limits protect vulnerable individuals from harmful radiation effects.</a:t>
            </a:r>
          </a:p>
          <a:p>
            <a:pPr marL="0" indent="0">
              <a:spcBef>
                <a:spcPts val="2500"/>
              </a:spcBef>
              <a:buFont typeface="Arial" panose="020B0604020202020204" pitchFamily="34" charset="0"/>
              <a:buNone/>
            </a:pPr>
            <a:r>
              <a:rPr lang="en-US" sz="1400" b="1"/>
              <a:t>Implanted Device Sensitivity</a:t>
            </a:r>
          </a:p>
          <a:p>
            <a:pPr marL="0" lvl="1" indent="0">
              <a:buFont typeface="Arial" panose="020B0604020202020204" pitchFamily="34" charset="0"/>
              <a:buNone/>
            </a:pPr>
            <a:r>
              <a:rPr lang="en-US" sz="1400"/>
              <a:t>Patients with sensitive implanted devices need additional safeguards against radiation exposure risks.</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60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ytuł 1">
            <a:extLst>
              <a:ext uri="{FF2B5EF4-FFF2-40B4-BE49-F238E27FC236}">
                <a16:creationId xmlns:a16="http://schemas.microsoft.com/office/drawing/2014/main" id="{B218C7CF-302B-2B87-C6BA-89A19C5A88EC}"/>
              </a:ext>
            </a:extLst>
          </p:cNvPr>
          <p:cNvSpPr>
            <a:spLocks noGrp="1"/>
          </p:cNvSpPr>
          <p:nvPr>
            <p:ph type="ctrTitle"/>
          </p:nvPr>
        </p:nvSpPr>
        <p:spPr>
          <a:xfrm>
            <a:off x="695324" y="1145308"/>
            <a:ext cx="7600263" cy="4860947"/>
          </a:xfrm>
        </p:spPr>
        <p:txBody>
          <a:bodyPr anchor="b">
            <a:normAutofit/>
          </a:bodyPr>
          <a:lstStyle/>
          <a:p>
            <a:r>
              <a:rPr lang="pl-PL" sz="7000"/>
              <a:t>Proposed Engineering Solutions for Enhanced Safety</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05583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1" name="Straight Connector 10">
            <a:extLst>
              <a:ext uri="{FF2B5EF4-FFF2-40B4-BE49-F238E27FC236}">
                <a16:creationId xmlns:a16="http://schemas.microsoft.com/office/drawing/2014/main" id="{22F20000-FD86-48F6-9363-FEC90C932D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72AE332-6ACA-45BE-875F-91A291D4A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ytuł 1">
            <a:extLst>
              <a:ext uri="{FF2B5EF4-FFF2-40B4-BE49-F238E27FC236}">
                <a16:creationId xmlns:a16="http://schemas.microsoft.com/office/drawing/2014/main" id="{AE5BA457-4884-F18E-10CF-B45C1493BA70}"/>
              </a:ext>
            </a:extLst>
          </p:cNvPr>
          <p:cNvSpPr>
            <a:spLocks noGrp="1"/>
          </p:cNvSpPr>
          <p:nvPr>
            <p:ph type="title"/>
          </p:nvPr>
        </p:nvSpPr>
        <p:spPr>
          <a:xfrm>
            <a:off x="702129" y="914760"/>
            <a:ext cx="2806615" cy="3543764"/>
          </a:xfrm>
        </p:spPr>
        <p:txBody>
          <a:bodyPr>
            <a:normAutofit/>
          </a:bodyPr>
          <a:lstStyle/>
          <a:p>
            <a:r>
              <a:rPr lang="pl-PL" sz="3300"/>
              <a:t>Redesigning Shielding with Advanced Materials</a:t>
            </a:r>
          </a:p>
        </p:txBody>
      </p:sp>
      <p:graphicFrame>
        <p:nvGraphicFramePr>
          <p:cNvPr id="4" name="Symbol zastępczy zawartości 4">
            <a:extLst>
              <a:ext uri="{FF2B5EF4-FFF2-40B4-BE49-F238E27FC236}">
                <a16:creationId xmlns:a16="http://schemas.microsoft.com/office/drawing/2014/main" id="{871D274C-D676-4849-BD9D-B50049FF32E5}"/>
              </a:ext>
            </a:extLst>
          </p:cNvPr>
          <p:cNvGraphicFramePr>
            <a:graphicFrameLocks noGrp="1"/>
          </p:cNvGraphicFramePr>
          <p:nvPr>
            <p:ph idx="1"/>
            <p:extLst>
              <p:ext uri="{D42A27DB-BD31-4B8C-83A1-F6EECF244321}">
                <p14:modId xmlns:p14="http://schemas.microsoft.com/office/powerpoint/2010/main" val="58214626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3902149" y="978558"/>
          <a:ext cx="7591859" cy="50914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6309064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852F54D-FD5A-7472-BE78-186B2E1FD084}"/>
              </a:ext>
            </a:extLst>
          </p:cNvPr>
          <p:cNvSpPr>
            <a:spLocks noGrp="1"/>
          </p:cNvSpPr>
          <p:nvPr>
            <p:ph type="title"/>
          </p:nvPr>
        </p:nvSpPr>
        <p:spPr>
          <a:xfrm>
            <a:off x="704088" y="914401"/>
            <a:ext cx="6766560" cy="1307592"/>
          </a:xfrm>
        </p:spPr>
        <p:txBody>
          <a:bodyPr vert="horz" lIns="91440" tIns="45720" rIns="91440" bIns="45720" rtlCol="0" anchor="t">
            <a:normAutofit/>
          </a:bodyPr>
          <a:lstStyle/>
          <a:p>
            <a:pPr>
              <a:lnSpc>
                <a:spcPct val="90000"/>
              </a:lnSpc>
            </a:pPr>
            <a:r>
              <a:rPr lang="en-US" sz="3400"/>
              <a:t>Implementation of Real-Time Radiation Monitoring Systems</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ymbol zastępczy zawartości 3">
            <a:extLst>
              <a:ext uri="{FF2B5EF4-FFF2-40B4-BE49-F238E27FC236}">
                <a16:creationId xmlns:a16="http://schemas.microsoft.com/office/drawing/2014/main" id="{7598DDAF-7D84-D6DD-B555-1C089F6E86B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8" y="2221994"/>
            <a:ext cx="6766560" cy="3739896"/>
          </a:xfrm>
        </p:spPr>
        <p:txBody>
          <a:bodyPr>
            <a:normAutofit/>
          </a:bodyPr>
          <a:lstStyle/>
          <a:p>
            <a:pPr marL="0" indent="0">
              <a:spcBef>
                <a:spcPts val="2500"/>
              </a:spcBef>
              <a:buFont typeface="Arial" panose="020B0604020202020204" pitchFamily="34" charset="0"/>
              <a:buNone/>
            </a:pPr>
            <a:r>
              <a:rPr lang="pl-PL" sz="1400" b="1"/>
              <a:t>Continuous Radiation Feedback</a:t>
            </a:r>
          </a:p>
          <a:p>
            <a:pPr marL="0" lvl="1" indent="0">
              <a:buFont typeface="Arial" panose="020B0604020202020204" pitchFamily="34" charset="0"/>
              <a:buNone/>
            </a:pPr>
            <a:r>
              <a:rPr lang="pl-PL" sz="1400"/>
              <a:t>Sensors continuously monitor radiation levels and provide immediate feedback for effective safety management.</a:t>
            </a:r>
          </a:p>
          <a:p>
            <a:pPr marL="0" indent="0">
              <a:spcBef>
                <a:spcPts val="2500"/>
              </a:spcBef>
              <a:buFont typeface="Arial" panose="020B0604020202020204" pitchFamily="34" charset="0"/>
              <a:buNone/>
            </a:pPr>
            <a:r>
              <a:rPr lang="pl-PL" sz="1400" b="1"/>
              <a:t>Immediate Unsafe Exposure Detection</a:t>
            </a:r>
          </a:p>
          <a:p>
            <a:pPr marL="0" lvl="1" indent="0">
              <a:buFont typeface="Arial" panose="020B0604020202020204" pitchFamily="34" charset="0"/>
              <a:buNone/>
            </a:pPr>
            <a:r>
              <a:rPr lang="pl-PL" sz="1400"/>
              <a:t>Real-time data enables fast detection of unsafe radiation levels, preventing potential hazards.</a:t>
            </a:r>
          </a:p>
          <a:p>
            <a:pPr marL="0" indent="0">
              <a:spcBef>
                <a:spcPts val="2500"/>
              </a:spcBef>
              <a:buFont typeface="Arial" panose="020B0604020202020204" pitchFamily="34" charset="0"/>
              <a:buNone/>
            </a:pPr>
            <a:r>
              <a:rPr lang="pl-PL" sz="1400" b="1"/>
              <a:t>Enhanced Operational Safety</a:t>
            </a:r>
          </a:p>
          <a:p>
            <a:pPr marL="0" lvl="1" indent="0">
              <a:buFont typeface="Arial" panose="020B0604020202020204" pitchFamily="34" charset="0"/>
              <a:buNone/>
            </a:pPr>
            <a:r>
              <a:rPr lang="pl-PL" sz="1400"/>
              <a:t>Real-time monitoring systems improve safety protocols and control in radiation-prone environments.</a:t>
            </a:r>
          </a:p>
        </p:txBody>
      </p: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Symbol zastępczy zawartości 4" descr="Women workers operate large machinery">
            <a:extLst>
              <a:ext uri="{FF2B5EF4-FFF2-40B4-BE49-F238E27FC236}">
                <a16:creationId xmlns:a16="http://schemas.microsoft.com/office/drawing/2014/main" id="{CCA03978-57D2-4ECC-8986-3040EE91F5ED}"/>
              </a:ext>
            </a:extLst>
          </p:cNvPr>
          <p:cNvPicPr>
            <a:picLocks noGrp="1" noChangeAspect="1"/>
          </p:cNvPicPr>
          <p:nvPr>
            <p:ph sz="half" idx="1"/>
          </p:nvPr>
        </p:nvPicPr>
        <p:blipFill>
          <a:blip r:embed="rId3"/>
          <a:srcRect l="34154" r="26166" b="-1"/>
          <a:stretch>
            <a:fillRect/>
          </a:stretch>
        </p:blipFill>
        <p:spPr>
          <a:xfrm>
            <a:off x="8115300" y="10"/>
            <a:ext cx="4076700" cy="6857990"/>
          </a:xfrm>
          <a:prstGeom prst="rect">
            <a:avLst/>
          </a:prstGeom>
        </p:spPr>
      </p:pic>
    </p:spTree>
    <p:extLst>
      <p:ext uri="{BB962C8B-B14F-4D97-AF65-F5344CB8AC3E}">
        <p14:creationId xmlns:p14="http://schemas.microsoft.com/office/powerpoint/2010/main" val="4641238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ADC05B86-F6D8-94F9-4429-A414DF951159}"/>
              </a:ext>
            </a:extLst>
          </p:cNvPr>
          <p:cNvSpPr>
            <a:spLocks noGrp="1"/>
          </p:cNvSpPr>
          <p:nvPr>
            <p:ph type="title"/>
          </p:nvPr>
        </p:nvSpPr>
        <p:spPr>
          <a:xfrm>
            <a:off x="6696186" y="909637"/>
            <a:ext cx="4800600" cy="1307592"/>
          </a:xfrm>
        </p:spPr>
        <p:txBody>
          <a:bodyPr vert="horz" lIns="91440" tIns="45720" rIns="91440" bIns="45720" rtlCol="0" anchor="t">
            <a:normAutofit/>
          </a:bodyPr>
          <a:lstStyle/>
          <a:p>
            <a:pPr>
              <a:lnSpc>
                <a:spcPct val="90000"/>
              </a:lnSpc>
            </a:pPr>
            <a:r>
              <a:rPr lang="en-US" sz="2800"/>
              <a:t>Additional Patient and Staff Protection Measures</a:t>
            </a:r>
          </a:p>
        </p:txBody>
      </p:sp>
      <p:pic>
        <p:nvPicPr>
          <p:cNvPr id="5" name="Symbol zastępczy zawartości 4" descr="computer tomography diagnostic machine in medical center">
            <a:extLst>
              <a:ext uri="{FF2B5EF4-FFF2-40B4-BE49-F238E27FC236}">
                <a16:creationId xmlns:a16="http://schemas.microsoft.com/office/drawing/2014/main" id="{05CEC216-BFB9-4134-9FE9-2E9E73630CF5}"/>
              </a:ext>
            </a:extLst>
          </p:cNvPr>
          <p:cNvPicPr>
            <a:picLocks noGrp="1" noChangeAspect="1"/>
          </p:cNvPicPr>
          <p:nvPr>
            <p:ph sz="half" idx="1"/>
          </p:nvPr>
        </p:nvPicPr>
        <p:blipFill>
          <a:blip r:embed="rId3"/>
          <a:srcRect l="12490" r="29121" b="-1"/>
          <a:stretch>
            <a:fillRect/>
          </a:stretch>
        </p:blipFill>
        <p:spPr>
          <a:xfrm>
            <a:off x="20" y="10"/>
            <a:ext cx="6044164" cy="6857990"/>
          </a:xfrm>
          <a:prstGeom prst="rect">
            <a:avLst/>
          </a:prstGeom>
        </p:spPr>
      </p:pic>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ymbol zastępczy zawartości 3">
            <a:extLst>
              <a:ext uri="{FF2B5EF4-FFF2-40B4-BE49-F238E27FC236}">
                <a16:creationId xmlns:a16="http://schemas.microsoft.com/office/drawing/2014/main" id="{DCAD468B-8D70-5DCD-D8F4-DAC439DE693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96186" y="2221992"/>
            <a:ext cx="4800600" cy="3739896"/>
          </a:xfrm>
        </p:spPr>
        <p:txBody>
          <a:bodyPr>
            <a:normAutofit/>
          </a:bodyPr>
          <a:lstStyle/>
          <a:p>
            <a:pPr marL="0" indent="0">
              <a:spcBef>
                <a:spcPts val="2500"/>
              </a:spcBef>
              <a:buFont typeface="Arial" panose="020B0604020202020204" pitchFamily="34" charset="0"/>
              <a:buNone/>
            </a:pPr>
            <a:r>
              <a:rPr lang="en-US" sz="1400" b="1"/>
              <a:t>Protective Barriers</a:t>
            </a:r>
          </a:p>
          <a:p>
            <a:pPr marL="0" lvl="1" indent="0">
              <a:buFont typeface="Arial" panose="020B0604020202020204" pitchFamily="34" charset="0"/>
              <a:buNone/>
            </a:pPr>
            <a:r>
              <a:rPr lang="en-US" sz="1400"/>
              <a:t>Supplementary barriers help shield patients and staff from unnecessary radiation exposure during imaging procedures.</a:t>
            </a:r>
          </a:p>
          <a:p>
            <a:pPr marL="0" indent="0">
              <a:spcBef>
                <a:spcPts val="2500"/>
              </a:spcBef>
              <a:buFont typeface="Arial" panose="020B0604020202020204" pitchFamily="34" charset="0"/>
              <a:buNone/>
            </a:pPr>
            <a:r>
              <a:rPr lang="en-US" sz="1400" b="1"/>
              <a:t>Safety Protocols</a:t>
            </a:r>
          </a:p>
          <a:p>
            <a:pPr marL="0" lvl="1" indent="0">
              <a:buFont typeface="Arial" panose="020B0604020202020204" pitchFamily="34" charset="0"/>
              <a:buNone/>
            </a:pPr>
            <a:r>
              <a:rPr lang="en-US" sz="1400"/>
              <a:t>Implementing strict safety protocols ensures minimal radiation dose for both patients and healthcare workers.</a:t>
            </a:r>
          </a:p>
        </p:txBody>
      </p: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6012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ytuł 1">
            <a:extLst>
              <a:ext uri="{FF2B5EF4-FFF2-40B4-BE49-F238E27FC236}">
                <a16:creationId xmlns:a16="http://schemas.microsoft.com/office/drawing/2014/main" id="{EFCADCD6-A416-72BD-CA35-512107B70173}"/>
              </a:ext>
            </a:extLst>
          </p:cNvPr>
          <p:cNvSpPr>
            <a:spLocks noGrp="1"/>
          </p:cNvSpPr>
          <p:nvPr>
            <p:ph type="ctrTitle"/>
          </p:nvPr>
        </p:nvSpPr>
        <p:spPr>
          <a:xfrm>
            <a:off x="695324" y="1145308"/>
            <a:ext cx="7600263" cy="4860947"/>
          </a:xfrm>
        </p:spPr>
        <p:txBody>
          <a:bodyPr anchor="b">
            <a:normAutofit/>
          </a:bodyPr>
          <a:lstStyle/>
          <a:p>
            <a:r>
              <a:rPr lang="pl-PL" sz="7600"/>
              <a:t>Operational Safety Protocols and Compliance</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77324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7E39222-C3AE-3A47-9617-3C4F318C9316}"/>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Establishing Exclusion Zones and Clear Signage</a:t>
            </a:r>
          </a:p>
        </p:txBody>
      </p:sp>
      <p:pic>
        <p:nvPicPr>
          <p:cNvPr id="5" name="Symbol zastępczy zawartości 4" descr="Unmanned electronic toll parking lot">
            <a:extLst>
              <a:ext uri="{FF2B5EF4-FFF2-40B4-BE49-F238E27FC236}">
                <a16:creationId xmlns:a16="http://schemas.microsoft.com/office/drawing/2014/main" id="{53801663-5B32-47A6-BB0B-9974ADF5AB81}"/>
              </a:ext>
            </a:extLst>
          </p:cNvPr>
          <p:cNvPicPr>
            <a:picLocks noGrp="1" noChangeAspect="1"/>
          </p:cNvPicPr>
          <p:nvPr>
            <p:ph sz="half" idx="1"/>
          </p:nvPr>
        </p:nvPicPr>
        <p:blipFill>
          <a:blip r:embed="rId3"/>
          <a:srcRect l="22946" r="36222" b="2"/>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ymbol zastępczy zawartości 3">
            <a:extLst>
              <a:ext uri="{FF2B5EF4-FFF2-40B4-BE49-F238E27FC236}">
                <a16:creationId xmlns:a16="http://schemas.microsoft.com/office/drawing/2014/main" id="{991A06BE-4DA5-C259-6AFE-E90FA6DD646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68" y="2221992"/>
            <a:ext cx="6627924" cy="3739896"/>
          </a:xfrm>
        </p:spPr>
        <p:txBody>
          <a:bodyPr>
            <a:normAutofit/>
          </a:bodyPr>
          <a:lstStyle/>
          <a:p>
            <a:pPr marL="0" indent="0">
              <a:spcBef>
                <a:spcPts val="2500"/>
              </a:spcBef>
              <a:buFont typeface="Arial" panose="020B0604020202020204" pitchFamily="34" charset="0"/>
              <a:buNone/>
            </a:pPr>
            <a:r>
              <a:rPr lang="en-US" sz="1400" b="1"/>
              <a:t>Safety Perimeter Zones</a:t>
            </a:r>
          </a:p>
          <a:p>
            <a:pPr marL="0" lvl="1" indent="0">
              <a:buFont typeface="Arial" panose="020B0604020202020204" pitchFamily="34" charset="0"/>
              <a:buNone/>
            </a:pPr>
            <a:r>
              <a:rPr lang="en-US" sz="1400"/>
              <a:t>Establishing exclusion zones creates a physical boundary to keep people safe from radiation exposure.</a:t>
            </a:r>
          </a:p>
          <a:p>
            <a:pPr marL="0" indent="0">
              <a:spcBef>
                <a:spcPts val="2500"/>
              </a:spcBef>
              <a:buFont typeface="Arial" panose="020B0604020202020204" pitchFamily="34" charset="0"/>
              <a:buNone/>
            </a:pPr>
            <a:r>
              <a:rPr lang="en-US" sz="1400" b="1"/>
              <a:t>Visible Radiation Signage</a:t>
            </a:r>
          </a:p>
          <a:p>
            <a:pPr marL="0" lvl="1" indent="0">
              <a:buFont typeface="Arial" panose="020B0604020202020204" pitchFamily="34" charset="0"/>
              <a:buNone/>
            </a:pPr>
            <a:r>
              <a:rPr lang="en-US" sz="1400"/>
              <a:t>Clear and visible warning signs alert individuals about radiation hazards within exclusion zones.</a:t>
            </a:r>
          </a:p>
          <a:p>
            <a:pPr marL="0" indent="0">
              <a:spcBef>
                <a:spcPts val="2500"/>
              </a:spcBef>
              <a:buFont typeface="Arial" panose="020B0604020202020204" pitchFamily="34" charset="0"/>
              <a:buNone/>
            </a:pPr>
            <a:r>
              <a:rPr lang="en-US" sz="1400" b="1"/>
              <a:t>Preventing Unauthorized Access</a:t>
            </a:r>
          </a:p>
          <a:p>
            <a:pPr marL="0" lvl="1" indent="0">
              <a:buFont typeface="Arial" panose="020B0604020202020204" pitchFamily="34" charset="0"/>
              <a:buNone/>
            </a:pPr>
            <a:r>
              <a:rPr lang="en-US" sz="1400"/>
              <a:t>Signage and exclusion zones help prevent unauthorized or accidental entry into hazardous radiation areas.</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54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18CBB497-DD91-CF55-4E26-5BD1F6135679}"/>
              </a:ext>
            </a:extLst>
          </p:cNvPr>
          <p:cNvSpPr>
            <a:spLocks noGrp="1"/>
          </p:cNvSpPr>
          <p:nvPr>
            <p:ph type="title"/>
          </p:nvPr>
        </p:nvSpPr>
        <p:spPr>
          <a:xfrm>
            <a:off x="4866968" y="914400"/>
            <a:ext cx="6627924" cy="1307592"/>
          </a:xfrm>
        </p:spPr>
        <p:txBody>
          <a:bodyPr vert="horz" lIns="91440" tIns="45720" rIns="91440" bIns="45720" rtlCol="0" anchor="t">
            <a:normAutofit/>
          </a:bodyPr>
          <a:lstStyle/>
          <a:p>
            <a:r>
              <a:rPr lang="en-US" sz="3700"/>
              <a:t>Staff Training and Patient Guidance Procedures</a:t>
            </a:r>
          </a:p>
        </p:txBody>
      </p:sp>
      <p:pic>
        <p:nvPicPr>
          <p:cNvPr id="5" name="Symbol zastępczy zawartości 4" descr="Working with protective clothes because of coronavirus pandemic. Nurses are helping doctor to put on protective workwear.">
            <a:extLst>
              <a:ext uri="{FF2B5EF4-FFF2-40B4-BE49-F238E27FC236}">
                <a16:creationId xmlns:a16="http://schemas.microsoft.com/office/drawing/2014/main" id="{8C04D388-8A0A-4FC0-A9D2-4FB99758C15D}"/>
              </a:ext>
            </a:extLst>
          </p:cNvPr>
          <p:cNvPicPr>
            <a:picLocks noGrp="1" noChangeAspect="1"/>
          </p:cNvPicPr>
          <p:nvPr>
            <p:ph sz="half" idx="1"/>
          </p:nvPr>
        </p:nvPicPr>
        <p:blipFill>
          <a:blip r:embed="rId3"/>
          <a:srcRect l="22902" r="36266" b="2"/>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ymbol zastępczy zawartości 3">
            <a:extLst>
              <a:ext uri="{FF2B5EF4-FFF2-40B4-BE49-F238E27FC236}">
                <a16:creationId xmlns:a16="http://schemas.microsoft.com/office/drawing/2014/main" id="{20E26248-DCB0-6BF5-305F-448CA2317FB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68" y="2221992"/>
            <a:ext cx="6627924" cy="3739896"/>
          </a:xfrm>
        </p:spPr>
        <p:txBody>
          <a:bodyPr>
            <a:normAutofit/>
          </a:bodyPr>
          <a:lstStyle/>
          <a:p>
            <a:pPr marL="0" indent="0">
              <a:spcBef>
                <a:spcPts val="2500"/>
              </a:spcBef>
              <a:buFont typeface="Arial" panose="020B0604020202020204" pitchFamily="34" charset="0"/>
              <a:buNone/>
            </a:pPr>
            <a:r>
              <a:rPr lang="en-US" sz="1400" b="1"/>
              <a:t>Comprehensive Staff Training</a:t>
            </a:r>
          </a:p>
          <a:p>
            <a:pPr marL="0" lvl="1" indent="0">
              <a:buFont typeface="Arial" panose="020B0604020202020204" pitchFamily="34" charset="0"/>
              <a:buNone/>
            </a:pPr>
            <a:r>
              <a:rPr lang="en-US" sz="1400"/>
              <a:t>Thorough training equips staff with knowledge of safety protocols, ensuring consistent application and risk reduction.</a:t>
            </a:r>
          </a:p>
          <a:p>
            <a:pPr marL="0" indent="0">
              <a:spcBef>
                <a:spcPts val="2500"/>
              </a:spcBef>
              <a:buFont typeface="Arial" panose="020B0604020202020204" pitchFamily="34" charset="0"/>
              <a:buNone/>
            </a:pPr>
            <a:r>
              <a:rPr lang="en-US" sz="1400" b="1"/>
              <a:t>Clear Patient Guidance</a:t>
            </a:r>
          </a:p>
          <a:p>
            <a:pPr marL="0" lvl="1" indent="0">
              <a:buFont typeface="Arial" panose="020B0604020202020204" pitchFamily="34" charset="0"/>
              <a:buNone/>
            </a:pPr>
            <a:r>
              <a:rPr lang="en-US" sz="1400"/>
              <a:t>Providing patients with clear instructions reduces exposure risks and supports a safer healthcare environment.</a:t>
            </a:r>
          </a:p>
          <a:p>
            <a:pPr marL="0" indent="0">
              <a:spcBef>
                <a:spcPts val="2500"/>
              </a:spcBef>
              <a:buFont typeface="Arial" panose="020B0604020202020204" pitchFamily="34" charset="0"/>
              <a:buNone/>
            </a:pPr>
            <a:r>
              <a:rPr lang="en-US" sz="1400" b="1"/>
              <a:t>Safety Culture Enhancement</a:t>
            </a:r>
          </a:p>
          <a:p>
            <a:pPr marL="0" lvl="1" indent="0">
              <a:buFont typeface="Arial" panose="020B0604020202020204" pitchFamily="34" charset="0"/>
              <a:buNone/>
            </a:pPr>
            <a:r>
              <a:rPr lang="en-US" sz="1400"/>
              <a:t>Together, training and guidance foster a culture of safety that benefits both staff and patients.</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3872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8937C42A-064A-9619-2A98-6C474F4A93F3}"/>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sz="3100"/>
              <a:t>Certification, International Standards, and Rigorous Testing</a:t>
            </a:r>
          </a:p>
        </p:txBody>
      </p:sp>
      <p:pic>
        <p:nvPicPr>
          <p:cNvPr id="5" name="Symbol zastępczy zawartości 4" descr="Sphygmomanometer and heart medication">
            <a:extLst>
              <a:ext uri="{FF2B5EF4-FFF2-40B4-BE49-F238E27FC236}">
                <a16:creationId xmlns:a16="http://schemas.microsoft.com/office/drawing/2014/main" id="{C94D97AB-4839-40A7-B7C4-36E7B145851C}"/>
              </a:ext>
            </a:extLst>
          </p:cNvPr>
          <p:cNvPicPr>
            <a:picLocks noGrp="1" noChangeAspect="1"/>
          </p:cNvPicPr>
          <p:nvPr>
            <p:ph sz="half" idx="1"/>
          </p:nvPr>
        </p:nvPicPr>
        <p:blipFill>
          <a:blip r:embed="rId3"/>
          <a:srcRect l="38486" r="27105" b="1"/>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ymbol zastępczy zawartości 3">
            <a:extLst>
              <a:ext uri="{FF2B5EF4-FFF2-40B4-BE49-F238E27FC236}">
                <a16:creationId xmlns:a16="http://schemas.microsoft.com/office/drawing/2014/main" id="{F02F00B0-9837-08F1-3A26-469513136DF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68" y="2221992"/>
            <a:ext cx="6627924" cy="3739896"/>
          </a:xfrm>
        </p:spPr>
        <p:txBody>
          <a:bodyPr>
            <a:normAutofit/>
          </a:bodyPr>
          <a:lstStyle/>
          <a:p>
            <a:pPr marL="0" indent="0">
              <a:spcBef>
                <a:spcPts val="2500"/>
              </a:spcBef>
              <a:buFont typeface="Arial" panose="020B0604020202020204" pitchFamily="34" charset="0"/>
              <a:buNone/>
            </a:pPr>
            <a:r>
              <a:rPr lang="en-US" sz="1400" b="1"/>
              <a:t>Compliance with Safety Standards</a:t>
            </a:r>
          </a:p>
          <a:p>
            <a:pPr marL="0" lvl="1" indent="0">
              <a:buFont typeface="Arial" panose="020B0604020202020204" pitchFamily="34" charset="0"/>
              <a:buNone/>
            </a:pPr>
            <a:r>
              <a:rPr lang="en-US" sz="1400"/>
              <a:t>Mobile CT units must meet international safety regulations to ensure user and patient protection.</a:t>
            </a:r>
          </a:p>
          <a:p>
            <a:pPr marL="0" indent="0">
              <a:spcBef>
                <a:spcPts val="2500"/>
              </a:spcBef>
              <a:buFont typeface="Arial" panose="020B0604020202020204" pitchFamily="34" charset="0"/>
              <a:buNone/>
            </a:pPr>
            <a:r>
              <a:rPr lang="en-US" sz="1400" b="1"/>
              <a:t>Shielding Effectiveness Testing</a:t>
            </a:r>
          </a:p>
          <a:p>
            <a:pPr marL="0" lvl="1" indent="0">
              <a:buFont typeface="Arial" panose="020B0604020202020204" pitchFamily="34" charset="0"/>
              <a:buNone/>
            </a:pPr>
            <a:r>
              <a:rPr lang="en-US" sz="1400"/>
              <a:t>Rigorous tests validate the shielding of mobile CT units to prevent radiation leakage.</a:t>
            </a:r>
          </a:p>
          <a:p>
            <a:pPr marL="0" indent="0">
              <a:spcBef>
                <a:spcPts val="2500"/>
              </a:spcBef>
              <a:buFont typeface="Arial" panose="020B0604020202020204" pitchFamily="34" charset="0"/>
              <a:buNone/>
            </a:pPr>
            <a:r>
              <a:rPr lang="en-US" sz="1400" b="1"/>
              <a:t>Operational Safety Validation</a:t>
            </a:r>
          </a:p>
          <a:p>
            <a:pPr marL="0" lvl="1" indent="0">
              <a:buFont typeface="Arial" panose="020B0604020202020204" pitchFamily="34" charset="0"/>
              <a:buNone/>
            </a:pPr>
            <a:r>
              <a:rPr lang="en-US" sz="1400"/>
              <a:t>Testing procedures confirm that mobile CT units operate safely under all conditions.</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40549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ytuł 1">
            <a:extLst>
              <a:ext uri="{FF2B5EF4-FFF2-40B4-BE49-F238E27FC236}">
                <a16:creationId xmlns:a16="http://schemas.microsoft.com/office/drawing/2014/main" id="{32F4CF6C-4A3E-7903-5454-14A05441D82C}"/>
              </a:ext>
            </a:extLst>
          </p:cNvPr>
          <p:cNvSpPr>
            <a:spLocks noGrp="1"/>
          </p:cNvSpPr>
          <p:nvPr>
            <p:ph type="ctrTitle"/>
          </p:nvPr>
        </p:nvSpPr>
        <p:spPr>
          <a:xfrm>
            <a:off x="695324" y="1145308"/>
            <a:ext cx="7600263" cy="4860947"/>
          </a:xfrm>
        </p:spPr>
        <p:txBody>
          <a:bodyPr anchor="b">
            <a:normAutofit/>
          </a:bodyPr>
          <a:lstStyle/>
          <a:p>
            <a:r>
              <a:rPr lang="pl-PL" sz="7600"/>
              <a:t>Expected Outcomes and Building Public Trust</a:t>
            </a:r>
          </a:p>
        </p:txBody>
      </p:sp>
      <p:cxnSp>
        <p:nvCxnSpPr>
          <p:cNvPr id="9" name="Straight Connector 8">
            <a:extLst>
              <a:ext uri="{FF2B5EF4-FFF2-40B4-BE49-F238E27FC236}">
                <a16:creationId xmlns:a16="http://schemas.microsoft.com/office/drawing/2014/main" id="{67CEFA70-4D11-644F-D4FB-AFFE8747E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75542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6606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E3E33DB-C79A-0A53-8666-B33BDB7D173D}"/>
              </a:ext>
            </a:extLst>
          </p:cNvPr>
          <p:cNvSpPr>
            <a:spLocks noGrp="1"/>
          </p:cNvSpPr>
          <p:nvPr>
            <p:ph type="title"/>
          </p:nvPr>
        </p:nvSpPr>
        <p:spPr>
          <a:xfrm>
            <a:off x="6696186" y="909637"/>
            <a:ext cx="4800600" cy="1307592"/>
          </a:xfrm>
        </p:spPr>
        <p:txBody>
          <a:bodyPr vert="horz" lIns="91440" tIns="45720" rIns="91440" bIns="45720" rtlCol="0" anchor="t">
            <a:normAutofit/>
          </a:bodyPr>
          <a:lstStyle/>
          <a:p>
            <a:pPr>
              <a:lnSpc>
                <a:spcPct val="90000"/>
              </a:lnSpc>
            </a:pPr>
            <a:r>
              <a:rPr lang="en-US" sz="2800"/>
              <a:t>Improvements in Patient and Community Safety</a:t>
            </a:r>
          </a:p>
        </p:txBody>
      </p:sp>
      <p:pic>
        <p:nvPicPr>
          <p:cNvPr id="5" name="Symbol zastępczy zawartości 4" descr="Examine room with CT scan machine inside of a modern hospital.">
            <a:extLst>
              <a:ext uri="{FF2B5EF4-FFF2-40B4-BE49-F238E27FC236}">
                <a16:creationId xmlns:a16="http://schemas.microsoft.com/office/drawing/2014/main" id="{36867817-325F-4D2F-B2C3-1ABBA460BC8D}"/>
              </a:ext>
            </a:extLst>
          </p:cNvPr>
          <p:cNvPicPr>
            <a:picLocks noGrp="1" noChangeAspect="1"/>
          </p:cNvPicPr>
          <p:nvPr>
            <p:ph sz="half" idx="1"/>
          </p:nvPr>
        </p:nvPicPr>
        <p:blipFill>
          <a:blip r:embed="rId3"/>
          <a:srcRect l="6942" r="34228" b="-1"/>
          <a:stretch>
            <a:fillRect/>
          </a:stretch>
        </p:blipFill>
        <p:spPr>
          <a:xfrm>
            <a:off x="20" y="10"/>
            <a:ext cx="6044164" cy="6857990"/>
          </a:xfrm>
          <a:prstGeom prst="rect">
            <a:avLst/>
          </a:prstGeom>
        </p:spPr>
      </p:pic>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ymbol zastępczy zawartości 3">
            <a:extLst>
              <a:ext uri="{FF2B5EF4-FFF2-40B4-BE49-F238E27FC236}">
                <a16:creationId xmlns:a16="http://schemas.microsoft.com/office/drawing/2014/main" id="{1C5C1AD8-C2E8-B6D0-CE96-F183C54721F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96186" y="2221992"/>
            <a:ext cx="4800600" cy="3739896"/>
          </a:xfrm>
        </p:spPr>
        <p:txBody>
          <a:bodyPr>
            <a:normAutofit/>
          </a:bodyPr>
          <a:lstStyle/>
          <a:p>
            <a:pPr marL="0" indent="0">
              <a:spcBef>
                <a:spcPts val="2500"/>
              </a:spcBef>
              <a:buFont typeface="Arial" panose="020B0604020202020204" pitchFamily="34" charset="0"/>
              <a:buNone/>
            </a:pPr>
            <a:r>
              <a:rPr lang="en-US" sz="1400" b="1"/>
              <a:t>Radiation Exposure Reduction</a:t>
            </a:r>
          </a:p>
          <a:p>
            <a:pPr marL="0" lvl="1" indent="0">
              <a:buFont typeface="Arial" panose="020B0604020202020204" pitchFamily="34" charset="0"/>
              <a:buNone/>
            </a:pPr>
            <a:r>
              <a:rPr lang="en-US" sz="1400"/>
              <a:t>Enhanced shielding minimizes radiation risks to patients and healthcare workers during mobile CT procedures.</a:t>
            </a:r>
          </a:p>
          <a:p>
            <a:pPr marL="0" indent="0">
              <a:spcBef>
                <a:spcPts val="2500"/>
              </a:spcBef>
              <a:buFont typeface="Arial" panose="020B0604020202020204" pitchFamily="34" charset="0"/>
              <a:buNone/>
            </a:pPr>
            <a:r>
              <a:rPr lang="en-US" sz="1400" b="1"/>
              <a:t>Safety Protocols Implementation</a:t>
            </a:r>
          </a:p>
          <a:p>
            <a:pPr marL="0" lvl="1" indent="0">
              <a:buFont typeface="Arial" panose="020B0604020202020204" pitchFamily="34" charset="0"/>
              <a:buNone/>
            </a:pPr>
            <a:r>
              <a:rPr lang="en-US" sz="1400"/>
              <a:t>Strict safety protocols ensure protection of patients, staff, and community during mobile CT scanning.</a:t>
            </a:r>
          </a:p>
        </p:txBody>
      </p: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21302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1111</Words>
  <Application>Microsoft Office PowerPoint</Application>
  <PresentationFormat>Panoramiczny</PresentationFormat>
  <Paragraphs>100</Paragraphs>
  <Slides>15</Slides>
  <Notes>15</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15</vt:i4>
      </vt:variant>
    </vt:vector>
  </HeadingPairs>
  <TitlesOfParts>
    <vt:vector size="20" baseType="lpstr">
      <vt:lpstr>Aptos</vt:lpstr>
      <vt:lpstr>Arial</vt:lpstr>
      <vt:lpstr>Calisto MT</vt:lpstr>
      <vt:lpstr>Univers Condensed</vt:lpstr>
      <vt:lpstr>ChronicleVTI</vt:lpstr>
      <vt:lpstr>Safety Improvements for Mobile CT Scanner Units: Protecting Patients and the Public</vt:lpstr>
      <vt:lpstr>Analysis of Radiation Leakage Risks</vt:lpstr>
      <vt:lpstr>Mechanisms of Radiation Emission From CT Scanners</vt:lpstr>
      <vt:lpstr>Structural Weaknesses in Shielding Cages</vt:lpstr>
      <vt:lpstr>Health Risks for Bystanders and Individuals with Implanted Devices</vt:lpstr>
      <vt:lpstr>Proposed Engineering Solutions for Enhanced Safety</vt:lpstr>
      <vt:lpstr>Redesigning Shielding with Advanced Materials</vt:lpstr>
      <vt:lpstr>Implementation of Real-Time Radiation Monitoring Systems</vt:lpstr>
      <vt:lpstr>Additional Patient and Staff Protection Measures</vt:lpstr>
      <vt:lpstr>Operational Safety Protocols and Compliance</vt:lpstr>
      <vt:lpstr>Establishing Exclusion Zones and Clear Signage</vt:lpstr>
      <vt:lpstr>Staff Training and Patient Guidance Procedures</vt:lpstr>
      <vt:lpstr>Certification, International Standards, and Rigorous Testing</vt:lpstr>
      <vt:lpstr>Expected Outcomes and Building Public Trust</vt:lpstr>
      <vt:lpstr>Improvements in Patient and Community Safety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Aleksandra Giebień</dc:creator>
  <cp:lastModifiedBy>Aleksandra Giebień</cp:lastModifiedBy>
  <cp:revision>1</cp:revision>
  <dcterms:created xsi:type="dcterms:W3CDTF">2025-11-30T20:14:13Z</dcterms:created>
  <dcterms:modified xsi:type="dcterms:W3CDTF">2025-11-30T21:29:09Z</dcterms:modified>
</cp:coreProperties>
</file>